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9144000" cy="6858000" type="screen4x3"/>
  <p:notesSz cx="7559675" cy="10691813"/>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108" y="7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73600"/>
            <a:ext cx="8229240" cy="1144800"/>
          </a:xfrm>
          <a:prstGeom prst="rect">
            <a:avLst/>
          </a:prstGeom>
        </p:spPr>
        <p:txBody>
          <a:bodyPr lIns="0" tIns="0" rIns="0" bIns="0" anchor="ctr">
            <a:spAutoFit/>
          </a:bodyPr>
          <a:lstStyle/>
          <a:p>
            <a:pPr algn="ctr"/>
            <a:endParaRPr lang="en-US" sz="4400" b="0" strike="noStrike" spc="-1">
              <a:latin typeface="Arial"/>
            </a:endParaRPr>
          </a:p>
        </p:txBody>
      </p:sp>
      <p:sp>
        <p:nvSpPr>
          <p:cNvPr id="3" name="PlaceHolder 2"/>
          <p:cNvSpPr>
            <a:spLocks noGrp="1"/>
          </p:cNvSpPr>
          <p:nvPr>
            <p:ph type="subTitle"/>
          </p:nvPr>
        </p:nvSpPr>
        <p:spPr>
          <a:xfrm>
            <a:off x="457200" y="1604520"/>
            <a:ext cx="8229240" cy="397728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73600"/>
            <a:ext cx="8229240" cy="1144800"/>
          </a:xfrm>
          <a:prstGeom prst="rect">
            <a:avLst/>
          </a:prstGeom>
        </p:spPr>
        <p:txBody>
          <a:bodyPr lIns="0" tIns="0" rIns="0" bIns="0" anchor="ctr">
            <a:spAutoFit/>
          </a:bodyPr>
          <a:lstStyle/>
          <a:p>
            <a:pPr algn="ctr"/>
            <a:endParaRPr lang="en-US" sz="4400" b="0" strike="noStrike" spc="-1">
              <a:latin typeface="Arial"/>
            </a:endParaRPr>
          </a:p>
        </p:txBody>
      </p:sp>
      <p:sp>
        <p:nvSpPr>
          <p:cNvPr id="5"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3600"/>
            <a:ext cx="8229240" cy="1144800"/>
          </a:xfrm>
          <a:prstGeom prst="rect">
            <a:avLst/>
          </a:prstGeom>
        </p:spPr>
        <p:txBody>
          <a:bodyPr lIns="0" tIns="0" rIns="0" bIns="0" anchor="ctr">
            <a:spAutoFit/>
          </a:bodyPr>
          <a:lstStyle/>
          <a:p>
            <a:pPr algn="ctr"/>
            <a:endParaRPr lang="en-US" sz="4400" b="0" strike="noStrike" spc="-1">
              <a:latin typeface="Arial"/>
            </a:endParaRPr>
          </a:p>
        </p:txBody>
      </p:sp>
      <p:sp>
        <p:nvSpPr>
          <p:cNvPr id="7"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latin typeface="Arial"/>
            </a:endParaRPr>
          </a:p>
        </p:txBody>
      </p:sp>
      <p:sp>
        <p:nvSpPr>
          <p:cNvPr id="8"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3600"/>
            <a:ext cx="8229240" cy="1144800"/>
          </a:xfrm>
          <a:prstGeom prst="rect">
            <a:avLst/>
          </a:prstGeom>
        </p:spPr>
        <p:txBody>
          <a:bodyPr lIns="0" tIns="0" rIns="0" bIns="0" anchor="ctr">
            <a:spAutoFit/>
          </a:bodyPr>
          <a:lstStyle/>
          <a:p>
            <a:pPr algn="ctr"/>
            <a:endParaRPr lang="en-US"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457200" y="273600"/>
            <a:ext cx="8229240" cy="530784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p:spPr>
        <p:txBody>
          <a:bodyPr lIns="0" tIns="0" rIns="0" bIns="0" anchor="ctr">
            <a:spAutoFit/>
          </a:bodyPr>
          <a:lstStyle/>
          <a:p>
            <a:pPr algn="ctr"/>
            <a:endParaRPr lang="en-US" sz="4400" b="0" strike="noStrike" spc="-1">
              <a:latin typeface="Arial"/>
            </a:endParaRPr>
          </a:p>
        </p:txBody>
      </p:sp>
      <p:sp>
        <p:nvSpPr>
          <p:cNvPr id="12"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13"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latin typeface="Arial"/>
            </a:endParaRPr>
          </a:p>
        </p:txBody>
      </p:sp>
      <p:sp>
        <p:nvSpPr>
          <p:cNvPr id="14"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73600"/>
            <a:ext cx="8229240" cy="1144800"/>
          </a:xfrm>
          <a:prstGeom prst="rect">
            <a:avLst/>
          </a:prstGeom>
        </p:spPr>
        <p:txBody>
          <a:bodyPr lIns="0" tIns="0" rIns="0" bIns="0" anchor="ctr">
            <a:spAutoFit/>
          </a:bodyPr>
          <a:lstStyle/>
          <a:p>
            <a:pPr algn="ctr"/>
            <a:endParaRPr lang="en-US" sz="4400" b="0" strike="noStrike" spc="-1">
              <a:latin typeface="Arial"/>
            </a:endParaRPr>
          </a:p>
        </p:txBody>
      </p:sp>
      <p:sp>
        <p:nvSpPr>
          <p:cNvPr id="16"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latin typeface="Arial"/>
            </a:endParaRPr>
          </a:p>
        </p:txBody>
      </p:sp>
      <p:sp>
        <p:nvSpPr>
          <p:cNvPr id="17"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18"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3600"/>
            <a:ext cx="8229240" cy="1144800"/>
          </a:xfrm>
          <a:prstGeom prst="rect">
            <a:avLst/>
          </a:prstGeom>
        </p:spPr>
        <p:txBody>
          <a:bodyPr lIns="0" tIns="0" rIns="0" bIns="0" anchor="ctr">
            <a:spAutoFit/>
          </a:bodyPr>
          <a:lstStyle/>
          <a:p>
            <a:pPr algn="ctr"/>
            <a:endParaRPr lang="en-US" sz="4400" b="0" strike="noStrike" spc="-1">
              <a:latin typeface="Arial"/>
            </a:endParaRPr>
          </a:p>
        </p:txBody>
      </p:sp>
      <p:sp>
        <p:nvSpPr>
          <p:cNvPr id="2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21"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22"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3600"/>
            <a:ext cx="8229240" cy="1144800"/>
          </a:xfrm>
          <a:prstGeom prst="rect">
            <a:avLst/>
          </a:prstGeom>
        </p:spPr>
        <p:txBody>
          <a:bodyPr lIns="0" tIns="0" rIns="0" bIns="0" anchor="ctr">
            <a:spAutoFit/>
          </a:bodyPr>
          <a:lstStyle/>
          <a:p>
            <a:pPr algn="ctr"/>
            <a:endParaRPr lang="en-US" sz="4400" b="0" strike="noStrike" spc="-1">
              <a:latin typeface="Arial"/>
            </a:endParaRPr>
          </a:p>
        </p:txBody>
      </p:sp>
      <p:sp>
        <p:nvSpPr>
          <p:cNvPr id="24"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latin typeface="Arial"/>
            </a:endParaRPr>
          </a:p>
        </p:txBody>
      </p:sp>
      <p:sp>
        <p:nvSpPr>
          <p:cNvPr id="25"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9240" cy="1144800"/>
          </a:xfrm>
          <a:prstGeom prst="rect">
            <a:avLst/>
          </a:prstGeom>
        </p:spPr>
        <p:txBody>
          <a:bodyPr lIns="0" tIns="0" rIns="0" bIns="0" anchor="ctr">
            <a:spAutoFit/>
          </a:bodyPr>
          <a:lstStyle/>
          <a:p>
            <a:pPr algn="ctr"/>
            <a:endParaRPr lang="en-US" sz="4400" b="0" strike="noStrike" spc="-1">
              <a:latin typeface="Arial"/>
            </a:endParaRPr>
          </a:p>
        </p:txBody>
      </p:sp>
      <p:sp>
        <p:nvSpPr>
          <p:cNvPr id="27"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28"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29"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latin typeface="Arial"/>
            </a:endParaRPr>
          </a:p>
        </p:txBody>
      </p:sp>
      <p:sp>
        <p:nvSpPr>
          <p:cNvPr id="30"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3600"/>
            <a:ext cx="8229240" cy="1144800"/>
          </a:xfrm>
          <a:prstGeom prst="rect">
            <a:avLst/>
          </a:prstGeom>
        </p:spPr>
        <p:txBody>
          <a:bodyPr lIns="0" tIns="0" rIns="0" bIns="0" anchor="ctr">
            <a:spAutoFit/>
          </a:bodyPr>
          <a:lstStyle/>
          <a:p>
            <a:pPr algn="ctr"/>
            <a:endParaRPr lang="en-US" sz="4400" b="0" strike="noStrike" spc="-1">
              <a:latin typeface="Arial"/>
            </a:endParaRPr>
          </a:p>
        </p:txBody>
      </p:sp>
      <p:sp>
        <p:nvSpPr>
          <p:cNvPr id="32"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latin typeface="Arial"/>
            </a:endParaRPr>
          </a:p>
        </p:txBody>
      </p:sp>
      <p:sp>
        <p:nvSpPr>
          <p:cNvPr id="33"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latin typeface="Arial"/>
            </a:endParaRPr>
          </a:p>
        </p:txBody>
      </p:sp>
      <p:sp>
        <p:nvSpPr>
          <p:cNvPr id="34"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latin typeface="Arial"/>
            </a:endParaRPr>
          </a:p>
        </p:txBody>
      </p:sp>
      <p:sp>
        <p:nvSpPr>
          <p:cNvPr id="35"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latin typeface="Arial"/>
            </a:endParaRPr>
          </a:p>
        </p:txBody>
      </p:sp>
      <p:sp>
        <p:nvSpPr>
          <p:cNvPr id="36"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latin typeface="Arial"/>
            </a:endParaRPr>
          </a:p>
        </p:txBody>
      </p:sp>
      <p:sp>
        <p:nvSpPr>
          <p:cNvPr id="37"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3600"/>
            <a:ext cx="8229240" cy="1144800"/>
          </a:xfrm>
          <a:prstGeom prst="rect">
            <a:avLst/>
          </a:prstGeom>
        </p:spPr>
        <p:txBody>
          <a:bodyPr lIns="0" tIns="0" rIns="0" bIns="0" anchor="ctr">
            <a:spAutoFit/>
          </a:bodyPr>
          <a:lstStyle/>
          <a:p>
            <a:pPr algn="ctr"/>
            <a:endParaRPr lang="en-US" sz="4400" b="0" strike="noStrike" spc="-1">
              <a:latin typeface="Arial"/>
            </a:endParaRPr>
          </a:p>
        </p:txBody>
      </p:sp>
      <p:sp>
        <p:nvSpPr>
          <p:cNvPr id="41" name="PlaceHolder 2"/>
          <p:cNvSpPr>
            <a:spLocks noGrp="1"/>
          </p:cNvSpPr>
          <p:nvPr>
            <p:ph type="subTitle"/>
          </p:nvPr>
        </p:nvSpPr>
        <p:spPr>
          <a:xfrm>
            <a:off x="457200" y="1604520"/>
            <a:ext cx="8229240" cy="397728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457200" y="273600"/>
            <a:ext cx="8229240" cy="1144800"/>
          </a:xfrm>
          <a:prstGeom prst="rect">
            <a:avLst/>
          </a:prstGeom>
        </p:spPr>
        <p:txBody>
          <a:bodyPr lIns="0" tIns="0" rIns="0" bIns="0" anchor="ctr">
            <a:spAutoFit/>
          </a:bodyPr>
          <a:lstStyle/>
          <a:p>
            <a:pPr algn="ctr"/>
            <a:endParaRPr lang="en-US" sz="4400" b="0" strike="noStrike" spc="-1">
              <a:latin typeface="Arial"/>
            </a:endParaRPr>
          </a:p>
        </p:txBody>
      </p:sp>
      <p:sp>
        <p:nvSpPr>
          <p:cNvPr id="4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457200" y="273600"/>
            <a:ext cx="8229240" cy="1144800"/>
          </a:xfrm>
          <a:prstGeom prst="rect">
            <a:avLst/>
          </a:prstGeom>
        </p:spPr>
        <p:txBody>
          <a:bodyPr lIns="0" tIns="0" rIns="0" bIns="0" anchor="ctr">
            <a:spAutoFit/>
          </a:bodyPr>
          <a:lstStyle/>
          <a:p>
            <a:pPr algn="ctr"/>
            <a:endParaRPr lang="en-US" sz="4400" b="0" strike="noStrike" spc="-1">
              <a:latin typeface="Arial"/>
            </a:endParaRPr>
          </a:p>
        </p:txBody>
      </p:sp>
      <p:sp>
        <p:nvSpPr>
          <p:cNvPr id="4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latin typeface="Arial"/>
            </a:endParaRPr>
          </a:p>
        </p:txBody>
      </p:sp>
      <p:sp>
        <p:nvSpPr>
          <p:cNvPr id="4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3600"/>
            <a:ext cx="8229240" cy="1144800"/>
          </a:xfrm>
          <a:prstGeom prst="rect">
            <a:avLst/>
          </a:prstGeom>
        </p:spPr>
        <p:txBody>
          <a:bodyPr lIns="0" tIns="0" rIns="0" bIns="0" anchor="ctr">
            <a:spAutoFit/>
          </a:bodyPr>
          <a:lstStyle/>
          <a:p>
            <a:pPr algn="ctr"/>
            <a:endParaRPr lang="en-US" sz="4400" b="0" strike="noStrike" spc="-1">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48" name="PlaceHolder 1"/>
          <p:cNvSpPr>
            <a:spLocks noGrp="1"/>
          </p:cNvSpPr>
          <p:nvPr>
            <p:ph type="subTitle"/>
          </p:nvPr>
        </p:nvSpPr>
        <p:spPr>
          <a:xfrm>
            <a:off x="457200" y="273600"/>
            <a:ext cx="8229240" cy="530784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3600"/>
            <a:ext cx="8229240" cy="1144800"/>
          </a:xfrm>
          <a:prstGeom prst="rect">
            <a:avLst/>
          </a:prstGeom>
        </p:spPr>
        <p:txBody>
          <a:bodyPr lIns="0" tIns="0" rIns="0" bIns="0" anchor="ctr">
            <a:spAutoFit/>
          </a:bodyPr>
          <a:lstStyle/>
          <a:p>
            <a:pPr algn="ctr"/>
            <a:endParaRPr lang="en-US" sz="4400" b="0" strike="noStrike" spc="-1">
              <a:latin typeface="Arial"/>
            </a:endParaRPr>
          </a:p>
        </p:txBody>
      </p:sp>
      <p:sp>
        <p:nvSpPr>
          <p:cNvPr id="5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5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latin typeface="Arial"/>
            </a:endParaRPr>
          </a:p>
        </p:txBody>
      </p:sp>
      <p:sp>
        <p:nvSpPr>
          <p:cNvPr id="5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3600"/>
            <a:ext cx="8229240" cy="1144800"/>
          </a:xfrm>
          <a:prstGeom prst="rect">
            <a:avLst/>
          </a:prstGeom>
        </p:spPr>
        <p:txBody>
          <a:bodyPr lIns="0" tIns="0" rIns="0" bIns="0" anchor="ctr">
            <a:spAutoFit/>
          </a:bodyPr>
          <a:lstStyle/>
          <a:p>
            <a:pPr algn="ctr"/>
            <a:endParaRPr lang="en-US" sz="4400" b="0" strike="noStrike" spc="-1">
              <a:latin typeface="Arial"/>
            </a:endParaRPr>
          </a:p>
        </p:txBody>
      </p:sp>
      <p:sp>
        <p:nvSpPr>
          <p:cNvPr id="5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latin typeface="Arial"/>
            </a:endParaRPr>
          </a:p>
        </p:txBody>
      </p:sp>
      <p:sp>
        <p:nvSpPr>
          <p:cNvPr id="5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5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457200" y="273600"/>
            <a:ext cx="8229240" cy="1144800"/>
          </a:xfrm>
          <a:prstGeom prst="rect">
            <a:avLst/>
          </a:prstGeom>
        </p:spPr>
        <p:txBody>
          <a:bodyPr lIns="0" tIns="0" rIns="0" bIns="0" anchor="ctr">
            <a:spAutoFit/>
          </a:bodyPr>
          <a:lstStyle/>
          <a:p>
            <a:pPr algn="ctr"/>
            <a:endParaRPr lang="en-US" sz="4400" b="0" strike="noStrike" spc="-1">
              <a:latin typeface="Arial"/>
            </a:endParaRPr>
          </a:p>
        </p:txBody>
      </p:sp>
      <p:sp>
        <p:nvSpPr>
          <p:cNvPr id="5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5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6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457200" y="273600"/>
            <a:ext cx="8229240" cy="1144800"/>
          </a:xfrm>
          <a:prstGeom prst="rect">
            <a:avLst/>
          </a:prstGeom>
        </p:spPr>
        <p:txBody>
          <a:bodyPr lIns="0" tIns="0" rIns="0" bIns="0" anchor="ctr">
            <a:spAutoFit/>
          </a:bodyPr>
          <a:lstStyle/>
          <a:p>
            <a:pPr algn="ctr"/>
            <a:endParaRPr lang="en-US" sz="4400" b="0" strike="noStrike" spc="-1">
              <a:latin typeface="Arial"/>
            </a:endParaRPr>
          </a:p>
        </p:txBody>
      </p:sp>
      <p:sp>
        <p:nvSpPr>
          <p:cNvPr id="6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latin typeface="Arial"/>
            </a:endParaRPr>
          </a:p>
        </p:txBody>
      </p:sp>
      <p:sp>
        <p:nvSpPr>
          <p:cNvPr id="6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457200" y="273600"/>
            <a:ext cx="8229240" cy="1144800"/>
          </a:xfrm>
          <a:prstGeom prst="rect">
            <a:avLst/>
          </a:prstGeom>
        </p:spPr>
        <p:txBody>
          <a:bodyPr lIns="0" tIns="0" rIns="0" bIns="0" anchor="ctr">
            <a:spAutoFit/>
          </a:bodyPr>
          <a:lstStyle/>
          <a:p>
            <a:pPr algn="ctr"/>
            <a:endParaRPr lang="en-US" sz="4400" b="0" strike="noStrike" spc="-1">
              <a:latin typeface="Arial"/>
            </a:endParaRPr>
          </a:p>
        </p:txBody>
      </p:sp>
      <p:sp>
        <p:nvSpPr>
          <p:cNvPr id="6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6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6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latin typeface="Arial"/>
            </a:endParaRPr>
          </a:p>
        </p:txBody>
      </p:sp>
      <p:sp>
        <p:nvSpPr>
          <p:cNvPr id="6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73600"/>
            <a:ext cx="8229240" cy="1144800"/>
          </a:xfrm>
          <a:prstGeom prst="rect">
            <a:avLst/>
          </a:prstGeom>
        </p:spPr>
        <p:txBody>
          <a:bodyPr lIns="0" tIns="0" rIns="0" bIns="0" anchor="ctr">
            <a:spAutoFit/>
          </a:bodyPr>
          <a:lstStyle/>
          <a:p>
            <a:pPr algn="ctr"/>
            <a:endParaRPr lang="en-US" sz="4400" b="0" strike="noStrike" spc="-1">
              <a:latin typeface="Arial"/>
            </a:endParaRPr>
          </a:p>
        </p:txBody>
      </p:sp>
      <p:sp>
        <p:nvSpPr>
          <p:cNvPr id="7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latin typeface="Arial"/>
            </a:endParaRPr>
          </a:p>
        </p:txBody>
      </p:sp>
      <p:sp>
        <p:nvSpPr>
          <p:cNvPr id="7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latin typeface="Arial"/>
            </a:endParaRPr>
          </a:p>
        </p:txBody>
      </p:sp>
      <p:sp>
        <p:nvSpPr>
          <p:cNvPr id="7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latin typeface="Arial"/>
            </a:endParaRPr>
          </a:p>
        </p:txBody>
      </p:sp>
      <p:sp>
        <p:nvSpPr>
          <p:cNvPr id="7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latin typeface="Arial"/>
            </a:endParaRPr>
          </a:p>
        </p:txBody>
      </p:sp>
      <p:sp>
        <p:nvSpPr>
          <p:cNvPr id="7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latin typeface="Arial"/>
            </a:endParaRPr>
          </a:p>
        </p:txBody>
      </p:sp>
      <p:sp>
        <p:nvSpPr>
          <p:cNvPr id="7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73240"/>
            <a:ext cx="8228880" cy="1145160"/>
          </a:xfrm>
          <a:prstGeom prst="rect">
            <a:avLst/>
          </a:prstGeom>
        </p:spPr>
        <p:txBody>
          <a:bodyPr lIns="0" tIns="0" rIns="0" bIns="0" anchor="ctr">
            <a:spAutoFit/>
          </a:bodyPr>
          <a:lstStyle/>
          <a:p>
            <a:r>
              <a:rPr lang="en-US" sz="1800" b="0" strike="noStrike" spc="-1">
                <a:latin typeface="Arial"/>
              </a:rPr>
              <a:t>Click to edit the title text format</a:t>
            </a:r>
          </a:p>
        </p:txBody>
      </p:sp>
      <p:sp>
        <p:nvSpPr>
          <p:cNvPr id="3" name="PlaceHolder 2"/>
          <p:cNvSpPr>
            <a:spLocks noGrp="1"/>
          </p:cNvSpPr>
          <p:nvPr>
            <p:ph type="body"/>
          </p:nvPr>
        </p:nvSpPr>
        <p:spPr>
          <a:xfrm>
            <a:off x="457200" y="1604520"/>
            <a:ext cx="82292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r>
              <a:rPr lang="en-US" sz="4400" b="0" strike="noStrike" spc="-1">
                <a:latin typeface="Arial"/>
              </a:rPr>
              <a:t>Click to edit the title text format</a:t>
            </a:r>
          </a:p>
        </p:txBody>
      </p:sp>
      <p:sp>
        <p:nvSpPr>
          <p:cNvPr id="39" name="PlaceHolder 2"/>
          <p:cNvSpPr>
            <a:spLocks noGrp="1"/>
          </p:cNvSpPr>
          <p:nvPr>
            <p:ph type="body"/>
          </p:nvPr>
        </p:nvSpPr>
        <p:spPr>
          <a:xfrm>
            <a:off x="457200" y="1604520"/>
            <a:ext cx="82292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3.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3.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3.xml"/><Relationship Id="rId5" Type="http://schemas.openxmlformats.org/officeDocument/2006/relationships/image" Target="../media/image33.png"/><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685800" y="1122480"/>
            <a:ext cx="7771680" cy="2386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rmAutofit/>
          </a:bodyPr>
          <a:lstStyle/>
          <a:p>
            <a:pPr algn="ctr">
              <a:lnSpc>
                <a:spcPct val="90000"/>
              </a:lnSpc>
            </a:pPr>
            <a:r>
              <a:rPr lang="en-US" sz="2700" b="0" strike="noStrike" spc="-1">
                <a:solidFill>
                  <a:srgbClr val="000000"/>
                </a:solidFill>
                <a:latin typeface="Arial"/>
              </a:rPr>
              <a:t>Web-based applications (SoSe2020)</a:t>
            </a:r>
            <a:endParaRPr lang="en-US" sz="2700" b="0" strike="noStrike" spc="-1">
              <a:latin typeface="Arial"/>
            </a:endParaRPr>
          </a:p>
        </p:txBody>
      </p:sp>
      <p:sp>
        <p:nvSpPr>
          <p:cNvPr id="77" name="CustomShape 2"/>
          <p:cNvSpPr/>
          <p:nvPr/>
        </p:nvSpPr>
        <p:spPr>
          <a:xfrm>
            <a:off x="1143000" y="3602160"/>
            <a:ext cx="6857280" cy="165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90000"/>
              </a:lnSpc>
              <a:spcBef>
                <a:spcPts val="1001"/>
              </a:spcBef>
            </a:pPr>
            <a:r>
              <a:rPr lang="en-US" sz="2400" b="0" strike="noStrike" spc="-1">
                <a:solidFill>
                  <a:srgbClr val="000000"/>
                </a:solidFill>
                <a:latin typeface="Arial"/>
              </a:rPr>
              <a:t>Practical course 1</a:t>
            </a:r>
            <a:endParaRPr lang="en-US" sz="2400" b="0" strike="noStrike" spc="-1">
              <a:latin typeface="Arial"/>
            </a:endParaRPr>
          </a:p>
        </p:txBody>
      </p:sp>
      <p:pic>
        <p:nvPicPr>
          <p:cNvPr id="78" name="Imagen 3"/>
          <p:cNvPicPr/>
          <p:nvPr/>
        </p:nvPicPr>
        <p:blipFill>
          <a:blip r:embed="rId2"/>
          <a:srcRect b="31090"/>
          <a:stretch/>
        </p:blipFill>
        <p:spPr>
          <a:xfrm>
            <a:off x="1612440" y="3983760"/>
            <a:ext cx="5741640" cy="891360"/>
          </a:xfrm>
          <a:prstGeom prst="rect">
            <a:avLst/>
          </a:prstGeom>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CustomShape 1"/>
          <p:cNvSpPr/>
          <p:nvPr/>
        </p:nvSpPr>
        <p:spPr>
          <a:xfrm>
            <a:off x="2341080" y="154080"/>
            <a:ext cx="4194360" cy="2955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marL="257040" indent="-256320">
              <a:lnSpc>
                <a:spcPct val="100000"/>
              </a:lnSpc>
              <a:buClr>
                <a:srgbClr val="000000"/>
              </a:buClr>
              <a:buFont typeface="Calibri Light"/>
              <a:buAutoNum type="arabicPeriod"/>
            </a:pPr>
            <a:r>
              <a:rPr lang="en-US" sz="1350" b="0" strike="noStrike" spc="-1">
                <a:solidFill>
                  <a:srgbClr val="000000"/>
                </a:solidFill>
                <a:latin typeface="Arial"/>
                <a:ea typeface="DejaVu Sans"/>
              </a:rPr>
              <a:t>Explain the difference between a URL and a URL.</a:t>
            </a:r>
            <a:endParaRPr lang="en-US" sz="1350" b="0" strike="noStrike" spc="-1">
              <a:latin typeface="Arial"/>
            </a:endParaRPr>
          </a:p>
        </p:txBody>
      </p:sp>
      <p:sp>
        <p:nvSpPr>
          <p:cNvPr id="80" name="CustomShape 2"/>
          <p:cNvSpPr/>
          <p:nvPr/>
        </p:nvSpPr>
        <p:spPr>
          <a:xfrm>
            <a:off x="1161360" y="2372400"/>
            <a:ext cx="6985440" cy="2351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350" b="1" strike="noStrike" spc="-1">
                <a:solidFill>
                  <a:srgbClr val="000000"/>
                </a:solidFill>
                <a:latin typeface="Arial"/>
                <a:ea typeface="DejaVu Sans"/>
              </a:rPr>
              <a:t>Reply:</a:t>
            </a:r>
            <a:endParaRPr lang="en-US" sz="1350" b="0" strike="noStrike" spc="-1">
              <a:latin typeface="Arial"/>
            </a:endParaRPr>
          </a:p>
          <a:p>
            <a:pPr>
              <a:lnSpc>
                <a:spcPct val="100000"/>
              </a:lnSpc>
            </a:pPr>
            <a:r>
              <a:rPr lang="en-US" sz="1350" b="0" strike="noStrike" spc="-1">
                <a:solidFill>
                  <a:srgbClr val="000000"/>
                </a:solidFill>
                <a:latin typeface="Arial"/>
                <a:ea typeface="DejaVu Sans"/>
              </a:rPr>
              <a:t>A Uniform Resouce Identifier (URI) is a string of characters that unambiguously identifies a particular resource.</a:t>
            </a:r>
            <a:endParaRPr lang="en-US" sz="1350" b="0" strike="noStrike" spc="-1">
              <a:latin typeface="Arial"/>
            </a:endParaRPr>
          </a:p>
          <a:p>
            <a:pPr>
              <a:lnSpc>
                <a:spcPct val="100000"/>
              </a:lnSpc>
            </a:pPr>
            <a:endParaRPr lang="en-US" sz="1350" b="0" strike="noStrike" spc="-1">
              <a:latin typeface="Arial"/>
            </a:endParaRPr>
          </a:p>
          <a:p>
            <a:pPr>
              <a:lnSpc>
                <a:spcPct val="100000"/>
              </a:lnSpc>
            </a:pPr>
            <a:r>
              <a:rPr lang="en-US" sz="1350" b="0" strike="noStrike" spc="-1">
                <a:solidFill>
                  <a:srgbClr val="000000"/>
                </a:solidFill>
                <a:latin typeface="Arial"/>
                <a:ea typeface="DejaVu Sans"/>
              </a:rPr>
              <a:t>The most common form of URI is the Uniform Resource Locator. </a:t>
            </a:r>
            <a:endParaRPr lang="en-US" sz="1350" b="0" strike="noStrike" spc="-1">
              <a:latin typeface="Arial"/>
            </a:endParaRPr>
          </a:p>
          <a:p>
            <a:pPr>
              <a:lnSpc>
                <a:spcPct val="100000"/>
              </a:lnSpc>
            </a:pPr>
            <a:endParaRPr lang="en-US" sz="1350" b="0" strike="noStrike" spc="-1">
              <a:latin typeface="Arial"/>
            </a:endParaRPr>
          </a:p>
          <a:p>
            <a:pPr>
              <a:lnSpc>
                <a:spcPct val="100000"/>
              </a:lnSpc>
            </a:pPr>
            <a:r>
              <a:rPr lang="en-US" sz="1350" b="0" strike="noStrike" spc="-1">
                <a:solidFill>
                  <a:srgbClr val="000000"/>
                </a:solidFill>
                <a:latin typeface="Arial"/>
                <a:ea typeface="DejaVu Sans"/>
              </a:rPr>
              <a:t>URL</a:t>
            </a:r>
            <a:endParaRPr lang="en-US" sz="1350" b="0" strike="noStrike" spc="-1">
              <a:latin typeface="Arial"/>
            </a:endParaRPr>
          </a:p>
          <a:p>
            <a:pPr>
              <a:lnSpc>
                <a:spcPct val="100000"/>
              </a:lnSpc>
            </a:pPr>
            <a:r>
              <a:rPr lang="en-US" sz="1350" b="0" strike="noStrike" spc="-1">
                <a:solidFill>
                  <a:srgbClr val="000000"/>
                </a:solidFill>
                <a:latin typeface="Arial"/>
                <a:ea typeface="DejaVu Sans"/>
              </a:rPr>
              <a:t>A Uniform Resource Locator is a reference to a web resource that specifies its location on a computer network and a mechanism for retrieving it</a:t>
            </a:r>
            <a:endParaRPr lang="en-US" sz="1350" b="0" strike="noStrike" spc="-1">
              <a:latin typeface="Arial"/>
            </a:endParaRPr>
          </a:p>
          <a:p>
            <a:pPr>
              <a:lnSpc>
                <a:spcPct val="100000"/>
              </a:lnSpc>
            </a:pPr>
            <a:endParaRPr lang="en-US" sz="1350" b="0" strike="noStrike" spc="-1">
              <a:latin typeface="Arial"/>
            </a:endParaRPr>
          </a:p>
          <a:p>
            <a:pPr>
              <a:lnSpc>
                <a:spcPct val="100000"/>
              </a:lnSpc>
            </a:pPr>
            <a:r>
              <a:rPr lang="en-US" sz="1350" b="0" strike="noStrike" spc="-1">
                <a:solidFill>
                  <a:srgbClr val="000000"/>
                </a:solidFill>
                <a:latin typeface="Arial"/>
                <a:ea typeface="DejaVu Sans"/>
              </a:rPr>
              <a:t>A URL is a specific type of Uniform Resource Identifier</a:t>
            </a:r>
            <a:endParaRPr lang="en-US" sz="1350" b="0" strike="noStrike" spc="-1">
              <a:latin typeface="Arial"/>
            </a:endParaRPr>
          </a:p>
        </p:txBody>
      </p:sp>
      <p:pic>
        <p:nvPicPr>
          <p:cNvPr id="81" name="Imagen 3"/>
          <p:cNvPicPr/>
          <p:nvPr/>
        </p:nvPicPr>
        <p:blipFill>
          <a:blip r:embed="rId2"/>
          <a:srcRect t="77392"/>
          <a:stretch/>
        </p:blipFill>
        <p:spPr>
          <a:xfrm>
            <a:off x="1567440" y="454320"/>
            <a:ext cx="5741640" cy="291960"/>
          </a:xfrm>
          <a:prstGeom prst="rect">
            <a:avLst/>
          </a:prstGeom>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CustomShape 1"/>
          <p:cNvSpPr/>
          <p:nvPr/>
        </p:nvSpPr>
        <p:spPr>
          <a:xfrm>
            <a:off x="143280" y="220680"/>
            <a:ext cx="8704440" cy="501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57040" indent="-256320">
              <a:lnSpc>
                <a:spcPct val="100000"/>
              </a:lnSpc>
              <a:buClr>
                <a:srgbClr val="000000"/>
              </a:buClr>
              <a:buFont typeface="Calibri Light"/>
              <a:buAutoNum type="arabicPeriod" startAt="2"/>
            </a:pPr>
            <a:r>
              <a:rPr lang="en-US" sz="1350" b="0" strike="noStrike" spc="-1">
                <a:solidFill>
                  <a:srgbClr val="000000"/>
                </a:solidFill>
                <a:latin typeface="Arial"/>
                <a:ea typeface="DejaVu Sans"/>
              </a:rPr>
              <a:t>Explain, in your own words, the four or five types of web applications. Which of the types can still be found on the web today?</a:t>
            </a:r>
            <a:endParaRPr lang="en-US" sz="1350" b="0" strike="noStrike" spc="-1">
              <a:latin typeface="Arial"/>
            </a:endParaRPr>
          </a:p>
        </p:txBody>
      </p:sp>
      <p:sp>
        <p:nvSpPr>
          <p:cNvPr id="83" name="CustomShape 2"/>
          <p:cNvSpPr/>
          <p:nvPr/>
        </p:nvSpPr>
        <p:spPr>
          <a:xfrm>
            <a:off x="2075760" y="2661480"/>
            <a:ext cx="457128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350" b="1" strike="noStrike" spc="-1">
                <a:solidFill>
                  <a:srgbClr val="000000"/>
                </a:solidFill>
                <a:latin typeface="Arial"/>
                <a:ea typeface="DejaVu Sans"/>
              </a:rPr>
              <a:t>Reply:</a:t>
            </a:r>
            <a:endParaRPr lang="en-US" sz="1350" b="0" strike="noStrike" spc="-1">
              <a:latin typeface="Arial"/>
            </a:endParaRPr>
          </a:p>
          <a:p>
            <a:pPr>
              <a:lnSpc>
                <a:spcPct val="100000"/>
              </a:lnSpc>
            </a:pPr>
            <a:r>
              <a:rPr lang="en-US" sz="1350" b="0" strike="noStrike" spc="-1">
                <a:solidFill>
                  <a:srgbClr val="000000"/>
                </a:solidFill>
                <a:latin typeface="Arial"/>
                <a:ea typeface="DejaVu Sans"/>
              </a:rPr>
              <a:t>Statisches Web</a:t>
            </a:r>
            <a:endParaRPr lang="en-US" sz="1350" b="0" strike="noStrike" spc="-1">
              <a:latin typeface="Arial"/>
            </a:endParaRPr>
          </a:p>
          <a:p>
            <a:pPr>
              <a:lnSpc>
                <a:spcPct val="100000"/>
              </a:lnSpc>
            </a:pPr>
            <a:r>
              <a:rPr lang="en-US" sz="1350" b="0" strike="noStrike" spc="-1">
                <a:solidFill>
                  <a:srgbClr val="000000"/>
                </a:solidFill>
                <a:latin typeface="Arial"/>
                <a:ea typeface="DejaVu Sans"/>
              </a:rPr>
              <a:t>Plug-in-Web</a:t>
            </a:r>
            <a:endParaRPr lang="en-US" sz="1350" b="0" strike="noStrike" spc="-1">
              <a:latin typeface="Arial"/>
            </a:endParaRPr>
          </a:p>
          <a:p>
            <a:pPr>
              <a:lnSpc>
                <a:spcPct val="100000"/>
              </a:lnSpc>
            </a:pPr>
            <a:r>
              <a:rPr lang="en-US" sz="1350" b="0" strike="noStrike" spc="-1">
                <a:solidFill>
                  <a:srgbClr val="000000"/>
                </a:solidFill>
                <a:latin typeface="Arial"/>
                <a:ea typeface="DejaVu Sans"/>
              </a:rPr>
              <a:t>Dynamisches Web</a:t>
            </a:r>
            <a:endParaRPr lang="en-US" sz="1350" b="0" strike="noStrike" spc="-1">
              <a:latin typeface="Arial"/>
            </a:endParaRPr>
          </a:p>
          <a:p>
            <a:pPr>
              <a:lnSpc>
                <a:spcPct val="100000"/>
              </a:lnSpc>
            </a:pPr>
            <a:r>
              <a:rPr lang="en-US" sz="1350" b="0" strike="noStrike" spc="-1">
                <a:solidFill>
                  <a:srgbClr val="000000"/>
                </a:solidFill>
                <a:latin typeface="Arial"/>
                <a:ea typeface="DejaVu Sans"/>
              </a:rPr>
              <a:t>Web 2.0</a:t>
            </a:r>
            <a:endParaRPr lang="en-US" sz="1350" b="0" strike="noStrike" spc="-1">
              <a:latin typeface="Arial"/>
            </a:endParaRPr>
          </a:p>
          <a:p>
            <a:pPr>
              <a:lnSpc>
                <a:spcPct val="100000"/>
              </a:lnSpc>
            </a:pPr>
            <a:r>
              <a:rPr lang="en-US" sz="1350" b="0" strike="noStrike" spc="-1">
                <a:solidFill>
                  <a:srgbClr val="000000"/>
                </a:solidFill>
                <a:latin typeface="Arial"/>
                <a:ea typeface="DejaVu Sans"/>
              </a:rPr>
              <a:t>Web 2.0 - Single Page Applications</a:t>
            </a:r>
            <a:endParaRPr lang="en-US" sz="1350" b="0" strike="noStrike" spc="-1">
              <a:latin typeface="Arial"/>
            </a:endParaRPr>
          </a:p>
        </p:txBody>
      </p:sp>
      <p:pic>
        <p:nvPicPr>
          <p:cNvPr id="84" name="Imagen 3"/>
          <p:cNvPicPr/>
          <p:nvPr/>
        </p:nvPicPr>
        <p:blipFill>
          <a:blip r:embed="rId2"/>
          <a:stretch/>
        </p:blipFill>
        <p:spPr>
          <a:xfrm>
            <a:off x="143280" y="749880"/>
            <a:ext cx="6189120" cy="522720"/>
          </a:xfrm>
          <a:prstGeom prst="rect">
            <a:avLst/>
          </a:prstGeom>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CustomShape 1"/>
          <p:cNvSpPr/>
          <p:nvPr/>
        </p:nvSpPr>
        <p:spPr>
          <a:xfrm>
            <a:off x="216360" y="153720"/>
            <a:ext cx="7908840" cy="295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57040" indent="-256320">
              <a:lnSpc>
                <a:spcPct val="100000"/>
              </a:lnSpc>
              <a:buClr>
                <a:srgbClr val="000000"/>
              </a:buClr>
              <a:buFont typeface="Calibri Light"/>
              <a:buAutoNum type="arabicPeriod" startAt="3"/>
            </a:pPr>
            <a:r>
              <a:rPr lang="en-US" sz="1350" b="0" strike="noStrike" spc="-1">
                <a:solidFill>
                  <a:srgbClr val="000000"/>
                </a:solidFill>
                <a:latin typeface="Arial"/>
                <a:ea typeface="DejaVu Sans"/>
              </a:rPr>
              <a:t>Web applications have special properties. Name them and describe them in your own words. </a:t>
            </a:r>
            <a:endParaRPr lang="en-US" sz="1350" b="0" strike="noStrike" spc="-1">
              <a:latin typeface="Arial"/>
            </a:endParaRPr>
          </a:p>
        </p:txBody>
      </p:sp>
      <p:sp>
        <p:nvSpPr>
          <p:cNvPr id="86" name="CustomShape 2"/>
          <p:cNvSpPr/>
          <p:nvPr/>
        </p:nvSpPr>
        <p:spPr>
          <a:xfrm>
            <a:off x="2286000" y="2771280"/>
            <a:ext cx="4571280" cy="1528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350" b="1" strike="noStrike" spc="-1">
                <a:solidFill>
                  <a:srgbClr val="000000"/>
                </a:solidFill>
                <a:latin typeface="Arial"/>
                <a:ea typeface="DejaVu Sans"/>
              </a:rPr>
              <a:t>Reply:</a:t>
            </a:r>
            <a:endParaRPr lang="en-US" sz="1350" b="0" strike="noStrike" spc="-1">
              <a:latin typeface="Arial"/>
            </a:endParaRPr>
          </a:p>
          <a:p>
            <a:pPr>
              <a:lnSpc>
                <a:spcPct val="100000"/>
              </a:lnSpc>
            </a:pPr>
            <a:r>
              <a:rPr lang="en-US" sz="1350" b="0" strike="noStrike" spc="-1">
                <a:solidFill>
                  <a:srgbClr val="000000"/>
                </a:solidFill>
                <a:latin typeface="Arial"/>
                <a:ea typeface="DejaVu Sans"/>
              </a:rPr>
              <a:t>Plattformabhaengig: </a:t>
            </a:r>
            <a:endParaRPr lang="en-US" sz="1350" b="0" strike="noStrike" spc="-1">
              <a:latin typeface="Arial"/>
            </a:endParaRPr>
          </a:p>
          <a:p>
            <a:pPr>
              <a:lnSpc>
                <a:spcPct val="100000"/>
              </a:lnSpc>
            </a:pPr>
            <a:r>
              <a:rPr lang="en-US" sz="1350" b="0" strike="noStrike" spc="-1">
                <a:solidFill>
                  <a:srgbClr val="000000"/>
                </a:solidFill>
                <a:latin typeface="Arial"/>
                <a:ea typeface="DejaVu Sans"/>
              </a:rPr>
              <a:t>On the fly and on the need deployment: </a:t>
            </a:r>
            <a:endParaRPr lang="en-US" sz="1350" b="0" strike="noStrike" spc="-1">
              <a:latin typeface="Arial"/>
            </a:endParaRPr>
          </a:p>
          <a:p>
            <a:pPr>
              <a:lnSpc>
                <a:spcPct val="100000"/>
              </a:lnSpc>
            </a:pPr>
            <a:r>
              <a:rPr lang="en-US" sz="1350" b="0" strike="noStrike" spc="-1">
                <a:solidFill>
                  <a:srgbClr val="000000"/>
                </a:solidFill>
                <a:latin typeface="Arial"/>
                <a:ea typeface="DejaVu Sans"/>
              </a:rPr>
              <a:t>Mehrere Einstiegspunkte</a:t>
            </a:r>
            <a:endParaRPr lang="en-US" sz="1350" b="0" strike="noStrike" spc="-1">
              <a:latin typeface="Arial"/>
            </a:endParaRPr>
          </a:p>
          <a:p>
            <a:pPr>
              <a:lnSpc>
                <a:spcPct val="100000"/>
              </a:lnSpc>
            </a:pPr>
            <a:r>
              <a:rPr lang="en-US" sz="1350" b="0" strike="noStrike" spc="-1">
                <a:solidFill>
                  <a:srgbClr val="000000"/>
                </a:solidFill>
                <a:latin typeface="Arial"/>
                <a:ea typeface="DejaVu Sans"/>
              </a:rPr>
              <a:t>Lose Struktur</a:t>
            </a:r>
            <a:endParaRPr lang="en-US" sz="1350" b="0" strike="noStrike" spc="-1">
              <a:latin typeface="Arial"/>
            </a:endParaRPr>
          </a:p>
          <a:p>
            <a:pPr>
              <a:lnSpc>
                <a:spcPct val="100000"/>
              </a:lnSpc>
            </a:pPr>
            <a:r>
              <a:rPr lang="en-US" sz="1350" b="0" strike="noStrike" spc="-1">
                <a:solidFill>
                  <a:srgbClr val="000000"/>
                </a:solidFill>
                <a:latin typeface="Arial"/>
                <a:ea typeface="DejaVu Sans"/>
              </a:rPr>
              <a:t>Ereignisgesteuerter Client  und prozeduraler Server</a:t>
            </a:r>
            <a:endParaRPr lang="en-US" sz="1350" b="0" strike="noStrike" spc="-1">
              <a:latin typeface="Arial"/>
            </a:endParaRPr>
          </a:p>
          <a:p>
            <a:pPr>
              <a:lnSpc>
                <a:spcPct val="100000"/>
              </a:lnSpc>
            </a:pPr>
            <a:r>
              <a:rPr lang="en-US" sz="1350" b="0" strike="noStrike" spc="-1">
                <a:solidFill>
                  <a:srgbClr val="000000"/>
                </a:solidFill>
                <a:latin typeface="Arial"/>
                <a:ea typeface="DejaVu Sans"/>
              </a:rPr>
              <a:t>Lebenslange Entwicklung</a:t>
            </a:r>
            <a:endParaRPr lang="en-US" sz="1350" b="0" strike="noStrike" spc="-1">
              <a:latin typeface="Arial"/>
            </a:endParaRPr>
          </a:p>
        </p:txBody>
      </p:sp>
      <p:pic>
        <p:nvPicPr>
          <p:cNvPr id="87" name="Imagen 3"/>
          <p:cNvPicPr/>
          <p:nvPr/>
        </p:nvPicPr>
        <p:blipFill>
          <a:blip r:embed="rId2"/>
          <a:stretch/>
        </p:blipFill>
        <p:spPr>
          <a:xfrm>
            <a:off x="216360" y="453960"/>
            <a:ext cx="6160680" cy="503640"/>
          </a:xfrm>
          <a:prstGeom prst="rect">
            <a:avLst/>
          </a:prstGeom>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CustomShape 1"/>
          <p:cNvSpPr/>
          <p:nvPr/>
        </p:nvSpPr>
        <p:spPr>
          <a:xfrm>
            <a:off x="167760" y="156960"/>
            <a:ext cx="8777520" cy="501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57040" indent="-256320">
              <a:lnSpc>
                <a:spcPct val="100000"/>
              </a:lnSpc>
              <a:buClr>
                <a:srgbClr val="000000"/>
              </a:buClr>
              <a:buFont typeface="Calibri Light"/>
              <a:buAutoNum type="arabicPeriod" startAt="4"/>
            </a:pPr>
            <a:r>
              <a:rPr lang="en-US" sz="1350" b="0" strike="noStrike" spc="-1">
                <a:solidFill>
                  <a:srgbClr val="000000"/>
                </a:solidFill>
                <a:latin typeface="Arial"/>
                <a:ea typeface="DejaVu Sans"/>
              </a:rPr>
              <a:t>Explain how server-side scripts are processed on a server. What output formats can be generated by server-side scripts?</a:t>
            </a:r>
            <a:endParaRPr lang="en-US" sz="1350" b="0" strike="noStrike" spc="-1">
              <a:latin typeface="Arial"/>
            </a:endParaRPr>
          </a:p>
        </p:txBody>
      </p:sp>
      <p:sp>
        <p:nvSpPr>
          <p:cNvPr id="89" name="CustomShape 2"/>
          <p:cNvSpPr/>
          <p:nvPr/>
        </p:nvSpPr>
        <p:spPr>
          <a:xfrm>
            <a:off x="399240" y="2591280"/>
            <a:ext cx="8341560" cy="2145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350" b="1" strike="noStrike" spc="-1">
                <a:solidFill>
                  <a:srgbClr val="000000"/>
                </a:solidFill>
                <a:latin typeface="Arial"/>
                <a:ea typeface="DejaVu Sans"/>
              </a:rPr>
              <a:t>Reply:</a:t>
            </a:r>
            <a:endParaRPr lang="en-US" sz="1350" b="0" strike="noStrike" spc="-1">
              <a:latin typeface="Arial"/>
            </a:endParaRPr>
          </a:p>
          <a:p>
            <a:pPr>
              <a:lnSpc>
                <a:spcPct val="100000"/>
              </a:lnSpc>
            </a:pPr>
            <a:r>
              <a:rPr lang="en-US" sz="1350" b="0" strike="noStrike" spc="-1">
                <a:solidFill>
                  <a:srgbClr val="000000"/>
                </a:solidFill>
                <a:latin typeface="Arial"/>
                <a:ea typeface="DejaVu Sans"/>
              </a:rPr>
              <a:t>Server-side programming comes into play in the development of web pages with dynamic elements and web applications. This web development technology is based on the use of scripts that are executed by the web server, with the help of the appropriate programming language, when a client requests content. A frequent task of the scripts is to extract the required data from a database and integrate it into the web project. Although the user accesses the project through HTML pages, the source code of the scripts remains hidden.The use of these server-side scripts assumes that the client will continue to send requests to the web server to deliver new and modified information to the user. This, on the one hand, places a heavy load on the server's capacity and consequently influences its response time and, on the other hand, makes a connection to the server essential in order to access the page.</a:t>
            </a:r>
            <a:endParaRPr lang="en-US" sz="1350" b="0" strike="noStrike" spc="-1">
              <a:latin typeface="Arial"/>
            </a:endParaRPr>
          </a:p>
        </p:txBody>
      </p:sp>
      <p:pic>
        <p:nvPicPr>
          <p:cNvPr id="90" name="Imagen 3"/>
          <p:cNvPicPr/>
          <p:nvPr/>
        </p:nvPicPr>
        <p:blipFill>
          <a:blip r:embed="rId2"/>
          <a:stretch/>
        </p:blipFill>
        <p:spPr>
          <a:xfrm>
            <a:off x="167760" y="664920"/>
            <a:ext cx="6103440" cy="675000"/>
          </a:xfrm>
          <a:prstGeom prst="rect">
            <a:avLst/>
          </a:prstGeom>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CustomShape 1"/>
          <p:cNvSpPr/>
          <p:nvPr/>
        </p:nvSpPr>
        <p:spPr>
          <a:xfrm>
            <a:off x="253080" y="184320"/>
            <a:ext cx="8786520" cy="295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57040" indent="-256320">
              <a:lnSpc>
                <a:spcPct val="100000"/>
              </a:lnSpc>
              <a:buClr>
                <a:srgbClr val="000000"/>
              </a:buClr>
              <a:buFont typeface="Calibri Light"/>
              <a:buAutoNum type="arabicPeriod" startAt="5"/>
            </a:pPr>
            <a:r>
              <a:rPr lang="en-US" sz="1350" b="0" strike="noStrike" spc="-1">
                <a:solidFill>
                  <a:srgbClr val="000000"/>
                </a:solidFill>
                <a:latin typeface="Arial"/>
                <a:ea typeface="DejaVu Sans"/>
              </a:rPr>
              <a:t>Explain how client-side scripts are processed in the browser. There are no tasks to complete.</a:t>
            </a:r>
            <a:endParaRPr lang="en-US" sz="1350" b="0" strike="noStrike" spc="-1">
              <a:latin typeface="Arial"/>
            </a:endParaRPr>
          </a:p>
        </p:txBody>
      </p:sp>
      <p:sp>
        <p:nvSpPr>
          <p:cNvPr id="92" name="CustomShape 2"/>
          <p:cNvSpPr/>
          <p:nvPr/>
        </p:nvSpPr>
        <p:spPr>
          <a:xfrm>
            <a:off x="365760" y="2163600"/>
            <a:ext cx="8291520" cy="276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350" b="1" strike="noStrike" spc="-1">
                <a:solidFill>
                  <a:srgbClr val="000000"/>
                </a:solidFill>
                <a:latin typeface="Arial"/>
                <a:ea typeface="DejaVu Sans"/>
              </a:rPr>
              <a:t>Reply:</a:t>
            </a:r>
            <a:endParaRPr lang="en-US" sz="1350" b="0" strike="noStrike" spc="-1">
              <a:latin typeface="Arial"/>
            </a:endParaRPr>
          </a:p>
          <a:p>
            <a:pPr>
              <a:lnSpc>
                <a:spcPct val="100000"/>
              </a:lnSpc>
            </a:pPr>
            <a:r>
              <a:rPr lang="en-US" sz="1350" b="0" strike="noStrike" spc="-1">
                <a:solidFill>
                  <a:srgbClr val="000000"/>
                </a:solidFill>
                <a:latin typeface="Arial"/>
                <a:ea typeface="DejaVu Sans"/>
              </a:rPr>
              <a:t>Client-side programming languages are also used to realize projects with dynamic content, but, unlike server-side languages, it is not the server that executes and processes the scripts, but the requesting client. For this purpose, the scripts are included in the HTML or XHTML document or written in a separate file that is linked to the main document.When a user requests a web page or a web application with such a script, the web server sends the HTML document and the script to the browser, which executes it and presents the final result. Client-side scripts also contain specific instructions to the web browser on how to react to certain actions performed by the user, such as clicking on a specific button. Often, the client has to establish further contact with the web server for this purpose. When executed in the browser, the user can see the source code, in contrast to server-side scripts. On the other hand, the interpretation of scripts is based on the assumption that the web browser understands the corresponding web programming language. Since pop-up windows and web tracking tools are also based on the client-side language and these scripts influence loading times, there are several popular browser extensions that block these scripts.</a:t>
            </a:r>
            <a:endParaRPr lang="en-US" sz="1350" b="0" strike="noStrike" spc="-1">
              <a:latin typeface="Arial"/>
            </a:endParaRPr>
          </a:p>
        </p:txBody>
      </p:sp>
      <p:pic>
        <p:nvPicPr>
          <p:cNvPr id="93" name="Imagen 4"/>
          <p:cNvPicPr/>
          <p:nvPr/>
        </p:nvPicPr>
        <p:blipFill>
          <a:blip r:embed="rId2"/>
          <a:stretch/>
        </p:blipFill>
        <p:spPr>
          <a:xfrm>
            <a:off x="365760" y="484560"/>
            <a:ext cx="6312960" cy="856080"/>
          </a:xfrm>
          <a:prstGeom prst="rect">
            <a:avLst/>
          </a:prstGeom>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CustomShape 1"/>
          <p:cNvSpPr/>
          <p:nvPr/>
        </p:nvSpPr>
        <p:spPr>
          <a:xfrm>
            <a:off x="685800" y="1122480"/>
            <a:ext cx="7771680" cy="2386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rmAutofit/>
          </a:bodyPr>
          <a:lstStyle/>
          <a:p>
            <a:pPr algn="ctr">
              <a:lnSpc>
                <a:spcPct val="90000"/>
              </a:lnSpc>
            </a:pPr>
            <a:r>
              <a:rPr lang="en-US" sz="2700" b="0" strike="noStrike" spc="-1">
                <a:solidFill>
                  <a:srgbClr val="000000"/>
                </a:solidFill>
                <a:latin typeface="Arial"/>
              </a:rPr>
              <a:t>Web-based applications (SoSe2020)</a:t>
            </a:r>
            <a:endParaRPr lang="en-US" sz="2700" b="0" strike="noStrike" spc="-1">
              <a:latin typeface="Arial"/>
            </a:endParaRPr>
          </a:p>
        </p:txBody>
      </p:sp>
      <p:sp>
        <p:nvSpPr>
          <p:cNvPr id="95" name="CustomShape 2"/>
          <p:cNvSpPr/>
          <p:nvPr/>
        </p:nvSpPr>
        <p:spPr>
          <a:xfrm>
            <a:off x="1143000" y="3602160"/>
            <a:ext cx="6857280" cy="165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90000"/>
              </a:lnSpc>
              <a:spcBef>
                <a:spcPts val="1001"/>
              </a:spcBef>
            </a:pPr>
            <a:r>
              <a:rPr lang="en-US" sz="2400" b="0" strike="noStrike" spc="-1">
                <a:solidFill>
                  <a:srgbClr val="000000"/>
                </a:solidFill>
                <a:latin typeface="Arial"/>
              </a:rPr>
              <a:t>Practical course 2</a:t>
            </a:r>
            <a:endParaRPr lang="en-US" sz="2400" b="0" strike="noStrike" spc="-1">
              <a:latin typeface="Arial"/>
            </a:endParaRPr>
          </a:p>
          <a:p>
            <a:pPr algn="ctr">
              <a:lnSpc>
                <a:spcPct val="90000"/>
              </a:lnSpc>
              <a:spcBef>
                <a:spcPts val="1001"/>
              </a:spcBef>
            </a:pPr>
            <a:endParaRPr lang="en-US" sz="2400" b="0" strike="noStrike" spc="-1">
              <a:latin typeface="Arial"/>
            </a:endParaRPr>
          </a:p>
        </p:txBody>
      </p:sp>
      <p:pic>
        <p:nvPicPr>
          <p:cNvPr id="96" name="Imagen 3"/>
          <p:cNvPicPr/>
          <p:nvPr/>
        </p:nvPicPr>
        <p:blipFill>
          <a:blip r:embed="rId2"/>
          <a:srcRect b="75574"/>
          <a:stretch/>
        </p:blipFill>
        <p:spPr>
          <a:xfrm>
            <a:off x="1396080" y="4156560"/>
            <a:ext cx="6351120" cy="780480"/>
          </a:xfrm>
          <a:prstGeom prst="rect">
            <a:avLst/>
          </a:prstGeom>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CustomShape 1"/>
          <p:cNvSpPr/>
          <p:nvPr/>
        </p:nvSpPr>
        <p:spPr>
          <a:xfrm>
            <a:off x="0" y="25920"/>
            <a:ext cx="8895960" cy="1117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57040" indent="-256320">
              <a:lnSpc>
                <a:spcPct val="100000"/>
              </a:lnSpc>
              <a:buClr>
                <a:srgbClr val="000000"/>
              </a:buClr>
              <a:buFont typeface="StarSymbol"/>
              <a:buAutoNum type="arabicPeriod"/>
            </a:pPr>
            <a:r>
              <a:rPr lang="en-US" sz="1350" b="0" strike="noStrike" spc="-1">
                <a:solidFill>
                  <a:srgbClr val="000000"/>
                </a:solidFill>
                <a:latin typeface="Arial"/>
                <a:ea typeface="DejaVu Sans"/>
              </a:rPr>
              <a:t>Create an HTML5 document.</a:t>
            </a:r>
            <a:endParaRPr lang="en-US" sz="1350" b="0" strike="noStrike" spc="-1">
              <a:latin typeface="Arial"/>
            </a:endParaRPr>
          </a:p>
          <a:p>
            <a:pPr marL="600120" lvl="1" indent="-256320">
              <a:lnSpc>
                <a:spcPct val="100000"/>
              </a:lnSpc>
              <a:buClr>
                <a:srgbClr val="000000"/>
              </a:buClr>
              <a:buFont typeface="Calibri Light"/>
              <a:buAutoNum type="alphaLcParenR"/>
            </a:pPr>
            <a:r>
              <a:rPr lang="en-US" sz="1350" b="0" strike="noStrike" spc="-1">
                <a:solidFill>
                  <a:srgbClr val="000000"/>
                </a:solidFill>
                <a:latin typeface="Arial"/>
                <a:ea typeface="DejaVu Sans"/>
              </a:rPr>
              <a:t>The document should have a 1st order heading with the text "Welcome!". Add a paragraph with the content "This is my beautiful web page". </a:t>
            </a:r>
            <a:endParaRPr lang="en-US" sz="1350" b="0" strike="noStrike" spc="-1">
              <a:latin typeface="Arial"/>
            </a:endParaRPr>
          </a:p>
          <a:p>
            <a:pPr marL="600120" lvl="1" indent="-256320">
              <a:lnSpc>
                <a:spcPct val="100000"/>
              </a:lnSpc>
              <a:buClr>
                <a:srgbClr val="000000"/>
              </a:buClr>
              <a:buFont typeface="Calibri Light"/>
              <a:buAutoNum type="alphaLcParenR"/>
            </a:pPr>
            <a:r>
              <a:rPr lang="en-US" sz="1350" b="0" strike="noStrike" spc="-1">
                <a:solidFill>
                  <a:srgbClr val="000000"/>
                </a:solidFill>
                <a:latin typeface="Arial"/>
                <a:ea typeface="DejaVu Sans"/>
              </a:rPr>
              <a:t>Mark the word "it" as highlighted and the word "beautiful" strongly.</a:t>
            </a:r>
            <a:endParaRPr lang="en-US" sz="1350" b="0" strike="noStrike" spc="-1">
              <a:latin typeface="Arial"/>
            </a:endParaRPr>
          </a:p>
          <a:p>
            <a:pPr marL="600120" lvl="1" indent="-256320">
              <a:lnSpc>
                <a:spcPct val="100000"/>
              </a:lnSpc>
              <a:buClr>
                <a:srgbClr val="000000"/>
              </a:buClr>
              <a:buFont typeface="Calibri Light"/>
              <a:buAutoNum type="alphaLcParenR"/>
            </a:pPr>
            <a:r>
              <a:rPr lang="en-US" sz="1350" b="0" strike="noStrike" spc="-1">
                <a:solidFill>
                  <a:srgbClr val="000000"/>
                </a:solidFill>
                <a:latin typeface="Arial"/>
                <a:ea typeface="DejaVu Sans"/>
              </a:rPr>
              <a:t>Validate your file using http://validator.w3.org/</a:t>
            </a:r>
            <a:endParaRPr lang="en-US" sz="1350" b="0" strike="noStrike" spc="-1">
              <a:latin typeface="Arial"/>
            </a:endParaRPr>
          </a:p>
        </p:txBody>
      </p:sp>
      <p:pic>
        <p:nvPicPr>
          <p:cNvPr id="98" name="Imagen 4"/>
          <p:cNvPicPr/>
          <p:nvPr/>
        </p:nvPicPr>
        <p:blipFill>
          <a:blip r:embed="rId2"/>
          <a:srcRect t="30524" b="11904"/>
          <a:stretch/>
        </p:blipFill>
        <p:spPr>
          <a:xfrm>
            <a:off x="0" y="1157040"/>
            <a:ext cx="6351120" cy="1841400"/>
          </a:xfrm>
          <a:prstGeom prst="rect">
            <a:avLst/>
          </a:prstGeom>
          <a:ln>
            <a:noFill/>
          </a:ln>
        </p:spPr>
      </p:pic>
      <p:pic>
        <p:nvPicPr>
          <p:cNvPr id="99" name="Imagen 5"/>
          <p:cNvPicPr/>
          <p:nvPr/>
        </p:nvPicPr>
        <p:blipFill>
          <a:blip r:embed="rId3"/>
          <a:stretch/>
        </p:blipFill>
        <p:spPr>
          <a:xfrm>
            <a:off x="998640" y="3871800"/>
            <a:ext cx="3561480" cy="1942560"/>
          </a:xfrm>
          <a:prstGeom prst="rect">
            <a:avLst/>
          </a:prstGeom>
          <a:ln>
            <a:noFill/>
          </a:ln>
        </p:spPr>
      </p:pic>
      <p:sp>
        <p:nvSpPr>
          <p:cNvPr id="100" name="CustomShape 2"/>
          <p:cNvSpPr/>
          <p:nvPr/>
        </p:nvSpPr>
        <p:spPr>
          <a:xfrm>
            <a:off x="225720" y="6581160"/>
            <a:ext cx="7796160" cy="45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200" b="0" strike="noStrike" spc="-1">
                <a:solidFill>
                  <a:srgbClr val="000000"/>
                </a:solidFill>
                <a:latin typeface="Calibri"/>
                <a:ea typeface="DejaVu Sans"/>
              </a:rPr>
              <a:t>http://apps.ebrothers.net/____frontend/open_task_eb005_wba/2020ss/01_html/practical_course_2-1/</a:t>
            </a:r>
            <a:endParaRPr lang="en-US" sz="1200" b="0" strike="noStrike" spc="-1">
              <a:latin typeface="Arial"/>
            </a:endParaRPr>
          </a:p>
        </p:txBody>
      </p:sp>
      <p:pic>
        <p:nvPicPr>
          <p:cNvPr id="101" name="Imagen 7"/>
          <p:cNvPicPr/>
          <p:nvPr/>
        </p:nvPicPr>
        <p:blipFill>
          <a:blip r:embed="rId4"/>
          <a:stretch/>
        </p:blipFill>
        <p:spPr>
          <a:xfrm>
            <a:off x="5348520" y="3927240"/>
            <a:ext cx="2514600" cy="1622520"/>
          </a:xfrm>
          <a:prstGeom prst="rect">
            <a:avLst/>
          </a:prstGeom>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CustomShape 1"/>
          <p:cNvSpPr/>
          <p:nvPr/>
        </p:nvSpPr>
        <p:spPr>
          <a:xfrm>
            <a:off x="143640" y="88560"/>
            <a:ext cx="8850600" cy="501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57040" indent="-256320">
              <a:lnSpc>
                <a:spcPct val="100000"/>
              </a:lnSpc>
              <a:buClr>
                <a:srgbClr val="000000"/>
              </a:buClr>
              <a:buFont typeface="Calibri Light"/>
              <a:buAutoNum type="arabicPeriod" startAt="2"/>
            </a:pPr>
            <a:r>
              <a:rPr lang="en-US" sz="1350" b="0" strike="noStrike" spc="-1">
                <a:solidFill>
                  <a:srgbClr val="000000"/>
                </a:solidFill>
                <a:latin typeface="Arial"/>
                <a:ea typeface="DejaVu Sans"/>
              </a:rPr>
              <a:t>Create a second document that contains an ordered list that enumerates all of your classes for that semester. Submit your HTML5 document.</a:t>
            </a:r>
            <a:endParaRPr lang="en-US" sz="1350" b="0" strike="noStrike" spc="-1">
              <a:latin typeface="Arial"/>
            </a:endParaRPr>
          </a:p>
        </p:txBody>
      </p:sp>
      <p:pic>
        <p:nvPicPr>
          <p:cNvPr id="103" name="Imagen 2"/>
          <p:cNvPicPr/>
          <p:nvPr/>
        </p:nvPicPr>
        <p:blipFill>
          <a:blip r:embed="rId2"/>
          <a:stretch/>
        </p:blipFill>
        <p:spPr>
          <a:xfrm>
            <a:off x="143640" y="596520"/>
            <a:ext cx="6227280" cy="741600"/>
          </a:xfrm>
          <a:prstGeom prst="rect">
            <a:avLst/>
          </a:prstGeom>
          <a:ln>
            <a:noFill/>
          </a:ln>
        </p:spPr>
      </p:pic>
      <p:pic>
        <p:nvPicPr>
          <p:cNvPr id="104" name="Imagen 3"/>
          <p:cNvPicPr/>
          <p:nvPr/>
        </p:nvPicPr>
        <p:blipFill>
          <a:blip r:embed="rId3"/>
          <a:stretch/>
        </p:blipFill>
        <p:spPr>
          <a:xfrm>
            <a:off x="5266800" y="2603160"/>
            <a:ext cx="2970720" cy="2678040"/>
          </a:xfrm>
          <a:prstGeom prst="rect">
            <a:avLst/>
          </a:prstGeom>
          <a:ln>
            <a:noFill/>
          </a:ln>
        </p:spPr>
      </p:pic>
      <p:pic>
        <p:nvPicPr>
          <p:cNvPr id="105" name="Imagen 4"/>
          <p:cNvPicPr/>
          <p:nvPr/>
        </p:nvPicPr>
        <p:blipFill>
          <a:blip r:embed="rId4"/>
          <a:stretch/>
        </p:blipFill>
        <p:spPr>
          <a:xfrm>
            <a:off x="511920" y="2152080"/>
            <a:ext cx="3902400" cy="3876840"/>
          </a:xfrm>
          <a:prstGeom prst="rect">
            <a:avLst/>
          </a:prstGeom>
          <a:ln>
            <a:noFill/>
          </a:ln>
        </p:spPr>
      </p:pic>
      <p:sp>
        <p:nvSpPr>
          <p:cNvPr id="106" name="CustomShape 2"/>
          <p:cNvSpPr/>
          <p:nvPr/>
        </p:nvSpPr>
        <p:spPr>
          <a:xfrm>
            <a:off x="143640" y="6581160"/>
            <a:ext cx="8060040" cy="272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200" b="0" strike="noStrike" spc="-1">
                <a:solidFill>
                  <a:srgbClr val="000000"/>
                </a:solidFill>
                <a:latin typeface="Calibri"/>
                <a:ea typeface="DejaVu Sans"/>
              </a:rPr>
              <a:t>http://apps.ebrothers.net/____frontend/open_task_eb005_wba/2020ss/01_html/practical_course_2-2/</a:t>
            </a:r>
            <a:endParaRPr lang="en-US" sz="1200" b="0" strike="noStrike" spc="-1">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stomShape 1"/>
          <p:cNvSpPr/>
          <p:nvPr/>
        </p:nvSpPr>
        <p:spPr>
          <a:xfrm>
            <a:off x="88560" y="134280"/>
            <a:ext cx="8928720" cy="295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57040" indent="-256320">
              <a:lnSpc>
                <a:spcPct val="100000"/>
              </a:lnSpc>
              <a:buClr>
                <a:srgbClr val="000000"/>
              </a:buClr>
              <a:buFont typeface="Calibri Light"/>
              <a:buAutoNum type="arabicPeriod" startAt="3"/>
            </a:pPr>
            <a:r>
              <a:rPr lang="en-US" sz="1350" b="0" strike="noStrike" spc="-1" dirty="0">
                <a:solidFill>
                  <a:srgbClr val="000000"/>
                </a:solidFill>
                <a:latin typeface="Arial"/>
                <a:ea typeface="DejaVu Sans"/>
              </a:rPr>
              <a:t>Build into the first document another paragraph referencing the second document. Type the source text excerpt.</a:t>
            </a:r>
            <a:endParaRPr lang="en-US" sz="1350" b="0" strike="noStrike" spc="-1" dirty="0">
              <a:latin typeface="Arial"/>
            </a:endParaRPr>
          </a:p>
        </p:txBody>
      </p:sp>
      <p:pic>
        <p:nvPicPr>
          <p:cNvPr id="108" name="Imagen 2"/>
          <p:cNvPicPr/>
          <p:nvPr/>
        </p:nvPicPr>
        <p:blipFill>
          <a:blip r:embed="rId2"/>
          <a:stretch/>
        </p:blipFill>
        <p:spPr>
          <a:xfrm>
            <a:off x="88560" y="434160"/>
            <a:ext cx="6189120" cy="646200"/>
          </a:xfrm>
          <a:prstGeom prst="rect">
            <a:avLst/>
          </a:prstGeom>
          <a:ln>
            <a:noFill/>
          </a:ln>
        </p:spPr>
      </p:pic>
      <p:sp>
        <p:nvSpPr>
          <p:cNvPr id="111" name="CustomShape 2"/>
          <p:cNvSpPr/>
          <p:nvPr/>
        </p:nvSpPr>
        <p:spPr>
          <a:xfrm>
            <a:off x="88560" y="6581160"/>
            <a:ext cx="6831360" cy="45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200" b="0" strike="noStrike" spc="-1">
                <a:solidFill>
                  <a:srgbClr val="000000"/>
                </a:solidFill>
                <a:latin typeface="Calibri"/>
                <a:ea typeface="DejaVu Sans"/>
              </a:rPr>
              <a:t>http://apps.ebrothers.net/____frontend/open_task_eb005_wba/2020ss/01_html/practical_course_2-3/</a:t>
            </a:r>
            <a:endParaRPr lang="en-US" sz="1200" b="0" strike="noStrike" spc="-1">
              <a:latin typeface="Arial"/>
            </a:endParaRPr>
          </a:p>
        </p:txBody>
      </p:sp>
      <p:pic>
        <p:nvPicPr>
          <p:cNvPr id="2" name="Imagen 1"/>
          <p:cNvPicPr>
            <a:picLocks noChangeAspect="1"/>
          </p:cNvPicPr>
          <p:nvPr/>
        </p:nvPicPr>
        <p:blipFill>
          <a:blip r:embed="rId3"/>
          <a:stretch>
            <a:fillRect/>
          </a:stretch>
        </p:blipFill>
        <p:spPr>
          <a:xfrm>
            <a:off x="748712" y="1990080"/>
            <a:ext cx="3562847" cy="3467584"/>
          </a:xfrm>
          <a:prstGeom prst="rect">
            <a:avLst/>
          </a:prstGeom>
        </p:spPr>
      </p:pic>
      <p:pic>
        <p:nvPicPr>
          <p:cNvPr id="3" name="Imagen 2"/>
          <p:cNvPicPr>
            <a:picLocks noChangeAspect="1"/>
          </p:cNvPicPr>
          <p:nvPr/>
        </p:nvPicPr>
        <p:blipFill>
          <a:blip r:embed="rId4"/>
          <a:stretch>
            <a:fillRect/>
          </a:stretch>
        </p:blipFill>
        <p:spPr>
          <a:xfrm>
            <a:off x="5100900" y="2494975"/>
            <a:ext cx="2848373" cy="245779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CustomShape 1"/>
          <p:cNvSpPr/>
          <p:nvPr/>
        </p:nvSpPr>
        <p:spPr>
          <a:xfrm>
            <a:off x="102960" y="165960"/>
            <a:ext cx="8859960" cy="295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57040" indent="-256320">
              <a:lnSpc>
                <a:spcPct val="100000"/>
              </a:lnSpc>
              <a:buClr>
                <a:srgbClr val="000000"/>
              </a:buClr>
              <a:buFont typeface="Calibri Light"/>
              <a:buAutoNum type="arabicPeriod" startAt="4"/>
            </a:pPr>
            <a:r>
              <a:rPr lang="en-US" sz="1350" b="0" strike="noStrike" spc="-1">
                <a:solidFill>
                  <a:srgbClr val="000000"/>
                </a:solidFill>
                <a:latin typeface="Arial"/>
                <a:ea typeface="DejaVu Sans"/>
              </a:rPr>
              <a:t>How should be a link, so that the user generates an e-mail with addressee and subject called "Task 4".</a:t>
            </a:r>
            <a:endParaRPr lang="en-US" sz="1350" b="0" strike="noStrike" spc="-1">
              <a:latin typeface="Arial"/>
            </a:endParaRPr>
          </a:p>
        </p:txBody>
      </p:sp>
      <p:pic>
        <p:nvPicPr>
          <p:cNvPr id="115" name="Imagen 2"/>
          <p:cNvPicPr/>
          <p:nvPr/>
        </p:nvPicPr>
        <p:blipFill>
          <a:blip r:embed="rId2"/>
          <a:stretch/>
        </p:blipFill>
        <p:spPr>
          <a:xfrm>
            <a:off x="102960" y="673920"/>
            <a:ext cx="5736600" cy="659880"/>
          </a:xfrm>
          <a:prstGeom prst="rect">
            <a:avLst/>
          </a:prstGeom>
          <a:ln>
            <a:noFill/>
          </a:ln>
        </p:spPr>
      </p:pic>
      <p:pic>
        <p:nvPicPr>
          <p:cNvPr id="116" name="Imagen 4"/>
          <p:cNvPicPr/>
          <p:nvPr/>
        </p:nvPicPr>
        <p:blipFill>
          <a:blip r:embed="rId3"/>
          <a:stretch/>
        </p:blipFill>
        <p:spPr>
          <a:xfrm>
            <a:off x="304560" y="1373040"/>
            <a:ext cx="6856200" cy="2770200"/>
          </a:xfrm>
          <a:prstGeom prst="rect">
            <a:avLst/>
          </a:prstGeom>
          <a:ln>
            <a:noFill/>
          </a:ln>
        </p:spPr>
      </p:pic>
      <p:sp>
        <p:nvSpPr>
          <p:cNvPr id="117" name="CustomShape 2"/>
          <p:cNvSpPr/>
          <p:nvPr/>
        </p:nvSpPr>
        <p:spPr>
          <a:xfrm>
            <a:off x="182520" y="6581160"/>
            <a:ext cx="8778600" cy="272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200" b="0" strike="noStrike" spc="-1">
                <a:solidFill>
                  <a:srgbClr val="000000"/>
                </a:solidFill>
                <a:latin typeface="Calibri"/>
                <a:ea typeface="DejaVu Sans"/>
              </a:rPr>
              <a:t>http://apps.ebrothers.net/____frontend/open_task_eb005_wba/2020ss/01_html/practical_course_2-4/</a:t>
            </a:r>
            <a:endParaRPr lang="en-US" sz="1200" b="0" strike="noStrike" spc="-1">
              <a:latin typeface="Arial"/>
            </a:endParaRPr>
          </a:p>
        </p:txBody>
      </p:sp>
      <p:pic>
        <p:nvPicPr>
          <p:cNvPr id="118" name="Imagen 6"/>
          <p:cNvPicPr/>
          <p:nvPr/>
        </p:nvPicPr>
        <p:blipFill>
          <a:blip r:embed="rId4"/>
          <a:stretch/>
        </p:blipFill>
        <p:spPr>
          <a:xfrm>
            <a:off x="2971440" y="4143960"/>
            <a:ext cx="2682360" cy="2238840"/>
          </a:xfrm>
          <a:prstGeom prst="rect">
            <a:avLst/>
          </a:prstGeom>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CustomShape 1"/>
          <p:cNvSpPr/>
          <p:nvPr/>
        </p:nvSpPr>
        <p:spPr>
          <a:xfrm>
            <a:off x="86040" y="142200"/>
            <a:ext cx="8859960" cy="706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57040" indent="-256320">
              <a:lnSpc>
                <a:spcPct val="100000"/>
              </a:lnSpc>
              <a:buClr>
                <a:srgbClr val="000000"/>
              </a:buClr>
              <a:buFont typeface="StarSymbol"/>
              <a:buAutoNum type="arabicPeriod" startAt="5"/>
            </a:pPr>
            <a:r>
              <a:rPr lang="en-US" sz="1350" b="0" strike="noStrike" spc="-1">
                <a:solidFill>
                  <a:srgbClr val="000000"/>
                </a:solidFill>
                <a:latin typeface="Arial"/>
                <a:ea typeface="DejaVu Sans"/>
              </a:rPr>
              <a:t>Include any image in a HTML5 document. The image should be displayed 40 pixels wide and 50 pixels high.</a:t>
            </a:r>
            <a:endParaRPr lang="en-US" sz="1350" b="0" strike="noStrike" spc="-1">
              <a:latin typeface="Arial"/>
            </a:endParaRPr>
          </a:p>
          <a:p>
            <a:pPr marL="257040" indent="-256320">
              <a:lnSpc>
                <a:spcPct val="100000"/>
              </a:lnSpc>
              <a:buClr>
                <a:srgbClr val="000000"/>
              </a:buClr>
              <a:buFont typeface="Calibri Light"/>
              <a:buAutoNum type="alphaLcParenR"/>
            </a:pPr>
            <a:r>
              <a:rPr lang="en-US" sz="1350" b="0" strike="noStrike" spc="-1">
                <a:solidFill>
                  <a:srgbClr val="000000"/>
                </a:solidFill>
                <a:latin typeface="Arial"/>
                <a:ea typeface="DejaVu Sans"/>
              </a:rPr>
              <a:t>First, use the img tag.</a:t>
            </a:r>
            <a:endParaRPr lang="en-US" sz="1350" b="0" strike="noStrike" spc="-1">
              <a:latin typeface="Arial"/>
            </a:endParaRPr>
          </a:p>
          <a:p>
            <a:pPr marL="257040" indent="-256320">
              <a:lnSpc>
                <a:spcPct val="100000"/>
              </a:lnSpc>
              <a:buClr>
                <a:srgbClr val="000000"/>
              </a:buClr>
              <a:buFont typeface="Calibri Light"/>
              <a:buAutoNum type="alphaLcParenR"/>
            </a:pPr>
            <a:r>
              <a:rPr lang="en-US" sz="1350" b="0" strike="noStrike" spc="-1">
                <a:solidFill>
                  <a:srgbClr val="000000"/>
                </a:solidFill>
                <a:latin typeface="Arial"/>
                <a:ea typeface="DejaVu Sans"/>
              </a:rPr>
              <a:t>Now include the same image using the object tag.</a:t>
            </a:r>
            <a:endParaRPr lang="en-US" sz="1350" b="0" strike="noStrike" spc="-1">
              <a:latin typeface="Arial"/>
            </a:endParaRPr>
          </a:p>
        </p:txBody>
      </p:sp>
      <p:pic>
        <p:nvPicPr>
          <p:cNvPr id="120" name="Imagen 2"/>
          <p:cNvPicPr/>
          <p:nvPr/>
        </p:nvPicPr>
        <p:blipFill>
          <a:blip r:embed="rId2"/>
          <a:stretch/>
        </p:blipFill>
        <p:spPr>
          <a:xfrm>
            <a:off x="329040" y="2815200"/>
            <a:ext cx="5856480" cy="1494720"/>
          </a:xfrm>
          <a:prstGeom prst="rect">
            <a:avLst/>
          </a:prstGeom>
          <a:ln>
            <a:noFill/>
          </a:ln>
        </p:spPr>
      </p:pic>
      <p:pic>
        <p:nvPicPr>
          <p:cNvPr id="121" name="Imagen 4"/>
          <p:cNvPicPr/>
          <p:nvPr/>
        </p:nvPicPr>
        <p:blipFill>
          <a:blip r:embed="rId3"/>
          <a:srcRect r="29329" b="33358"/>
          <a:stretch/>
        </p:blipFill>
        <p:spPr>
          <a:xfrm>
            <a:off x="4516200" y="4115880"/>
            <a:ext cx="2898000" cy="2035800"/>
          </a:xfrm>
          <a:prstGeom prst="rect">
            <a:avLst/>
          </a:prstGeom>
          <a:ln w="38160">
            <a:solidFill>
              <a:srgbClr val="000000"/>
            </a:solidFill>
            <a:miter/>
          </a:ln>
          <a:effectLst>
            <a:outerShdw blurRad="50800" dist="37674" dir="2700000" algn="tl" rotWithShape="0">
              <a:srgbClr val="000000">
                <a:alpha val="43000"/>
              </a:srgbClr>
            </a:outerShdw>
          </a:effectLst>
        </p:spPr>
      </p:pic>
      <p:pic>
        <p:nvPicPr>
          <p:cNvPr id="122" name="Imagen 5"/>
          <p:cNvPicPr/>
          <p:nvPr/>
        </p:nvPicPr>
        <p:blipFill>
          <a:blip r:embed="rId4"/>
          <a:srcRect b="26039"/>
          <a:stretch/>
        </p:blipFill>
        <p:spPr>
          <a:xfrm>
            <a:off x="153360" y="857880"/>
            <a:ext cx="6208200" cy="1133280"/>
          </a:xfrm>
          <a:prstGeom prst="rect">
            <a:avLst/>
          </a:prstGeom>
          <a:ln>
            <a:noFill/>
          </a:ln>
        </p:spPr>
      </p:pic>
      <p:sp>
        <p:nvSpPr>
          <p:cNvPr id="123" name="CustomShape 2"/>
          <p:cNvSpPr/>
          <p:nvPr/>
        </p:nvSpPr>
        <p:spPr>
          <a:xfrm>
            <a:off x="153360" y="6581160"/>
            <a:ext cx="8033040" cy="272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200" b="0" strike="noStrike" spc="-1">
                <a:solidFill>
                  <a:srgbClr val="000000"/>
                </a:solidFill>
                <a:latin typeface="Calibri"/>
                <a:ea typeface="DejaVu Sans"/>
              </a:rPr>
              <a:t>http://apps.ebrothers.net/____frontend/open_task_eb005_wba/2020ss/01_html/practical_course_2-5/</a:t>
            </a:r>
            <a:endParaRPr lang="en-US" sz="1200" b="0" strike="noStrike" spc="-1">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CustomShape 1"/>
          <p:cNvSpPr/>
          <p:nvPr/>
        </p:nvSpPr>
        <p:spPr>
          <a:xfrm>
            <a:off x="0" y="0"/>
            <a:ext cx="8960400" cy="7070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57040" indent="-256320">
              <a:lnSpc>
                <a:spcPct val="100000"/>
              </a:lnSpc>
              <a:buClr>
                <a:srgbClr val="000000"/>
              </a:buClr>
              <a:buFont typeface="StarSymbol"/>
              <a:buAutoNum type="arabicPeriod" startAt="6"/>
            </a:pPr>
            <a:r>
              <a:rPr lang="en-US" sz="1350" b="0" strike="noStrike" spc="-1">
                <a:solidFill>
                  <a:srgbClr val="000000"/>
                </a:solidFill>
                <a:latin typeface="Arial"/>
                <a:ea typeface="DejaVu Sans"/>
              </a:rPr>
              <a:t>Create an HTML5 document with an image map. You can find a template for a daffodil on moodle. The flower should be selectable by a circle and the green leaves by a rectangle or polygon. </a:t>
            </a:r>
            <a:endParaRPr lang="en-US" sz="1350" b="0" strike="noStrike" spc="-1">
              <a:latin typeface="Arial"/>
            </a:endParaRPr>
          </a:p>
          <a:p>
            <a:pPr>
              <a:lnSpc>
                <a:spcPct val="100000"/>
              </a:lnSpc>
            </a:pPr>
            <a:endParaRPr lang="en-US" sz="1350" b="0" strike="noStrike" spc="-1">
              <a:latin typeface="Arial"/>
            </a:endParaRPr>
          </a:p>
        </p:txBody>
      </p:sp>
      <p:pic>
        <p:nvPicPr>
          <p:cNvPr id="125" name="Imagen 2"/>
          <p:cNvPicPr/>
          <p:nvPr/>
        </p:nvPicPr>
        <p:blipFill>
          <a:blip r:embed="rId2"/>
          <a:srcRect b="54196"/>
          <a:stretch/>
        </p:blipFill>
        <p:spPr>
          <a:xfrm>
            <a:off x="109800" y="1131120"/>
            <a:ext cx="6455880" cy="971640"/>
          </a:xfrm>
          <a:prstGeom prst="rect">
            <a:avLst/>
          </a:prstGeom>
          <a:ln>
            <a:noFill/>
          </a:ln>
        </p:spPr>
      </p:pic>
      <p:sp>
        <p:nvSpPr>
          <p:cNvPr id="126" name="CustomShape 2"/>
          <p:cNvSpPr/>
          <p:nvPr/>
        </p:nvSpPr>
        <p:spPr>
          <a:xfrm>
            <a:off x="182880" y="6217920"/>
            <a:ext cx="7466760" cy="45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200" b="0" strike="noStrike" spc="-1">
                <a:solidFill>
                  <a:srgbClr val="000000"/>
                </a:solidFill>
                <a:latin typeface="Calibri"/>
                <a:ea typeface="DejaVu Sans"/>
              </a:rPr>
              <a:t>http://apps.ebrothers.net/____frontend/open_task_eb005_wba/2020ss/01_html/practical_course_2-6/</a:t>
            </a:r>
            <a:endParaRPr lang="en-US" sz="1200" b="0" strike="noStrike" spc="-1">
              <a:latin typeface="Arial"/>
            </a:endParaRPr>
          </a:p>
        </p:txBody>
      </p:sp>
      <p:pic>
        <p:nvPicPr>
          <p:cNvPr id="128" name="Imagen 6"/>
          <p:cNvPicPr/>
          <p:nvPr/>
        </p:nvPicPr>
        <p:blipFill>
          <a:blip r:embed="rId3"/>
          <a:stretch/>
        </p:blipFill>
        <p:spPr>
          <a:xfrm>
            <a:off x="7098120" y="1374120"/>
            <a:ext cx="1862280" cy="3450600"/>
          </a:xfrm>
          <a:prstGeom prst="rect">
            <a:avLst/>
          </a:prstGeom>
          <a:ln>
            <a:noFill/>
          </a:ln>
        </p:spPr>
      </p:pic>
      <p:pic>
        <p:nvPicPr>
          <p:cNvPr id="3" name="Imagen 2"/>
          <p:cNvPicPr>
            <a:picLocks noChangeAspect="1"/>
          </p:cNvPicPr>
          <p:nvPr/>
        </p:nvPicPr>
        <p:blipFill rotWithShape="1">
          <a:blip r:embed="rId4"/>
          <a:srcRect r="1615"/>
          <a:stretch/>
        </p:blipFill>
        <p:spPr>
          <a:xfrm>
            <a:off x="182879" y="2769841"/>
            <a:ext cx="7071361" cy="193419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CustomShape 1"/>
          <p:cNvSpPr/>
          <p:nvPr/>
        </p:nvSpPr>
        <p:spPr>
          <a:xfrm>
            <a:off x="685800" y="1122480"/>
            <a:ext cx="7771680" cy="2386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rmAutofit/>
          </a:bodyPr>
          <a:lstStyle/>
          <a:p>
            <a:pPr algn="ctr">
              <a:lnSpc>
                <a:spcPct val="90000"/>
              </a:lnSpc>
            </a:pPr>
            <a:r>
              <a:rPr lang="en-US" sz="2700" b="0" strike="noStrike" spc="-1">
                <a:solidFill>
                  <a:srgbClr val="000000"/>
                </a:solidFill>
                <a:latin typeface="Arial"/>
              </a:rPr>
              <a:t>Web-based applications (SoSe2020)</a:t>
            </a:r>
            <a:endParaRPr lang="en-US" sz="2700" b="0" strike="noStrike" spc="-1">
              <a:latin typeface="Arial"/>
            </a:endParaRPr>
          </a:p>
        </p:txBody>
      </p:sp>
      <p:sp>
        <p:nvSpPr>
          <p:cNvPr id="131" name="CustomShape 2"/>
          <p:cNvSpPr/>
          <p:nvPr/>
        </p:nvSpPr>
        <p:spPr>
          <a:xfrm>
            <a:off x="1143000" y="3602160"/>
            <a:ext cx="6857280" cy="165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90000"/>
              </a:lnSpc>
              <a:spcBef>
                <a:spcPts val="1001"/>
              </a:spcBef>
            </a:pPr>
            <a:r>
              <a:rPr lang="en-US" sz="2400" b="0" strike="noStrike" spc="-1">
                <a:solidFill>
                  <a:srgbClr val="000000"/>
                </a:solidFill>
                <a:latin typeface="Arial"/>
              </a:rPr>
              <a:t>Practical course 3</a:t>
            </a:r>
            <a:endParaRPr lang="en-US" sz="2400" b="0" strike="noStrike" spc="-1">
              <a:latin typeface="Arial"/>
            </a:endParaRPr>
          </a:p>
          <a:p>
            <a:pPr algn="ctr">
              <a:lnSpc>
                <a:spcPct val="90000"/>
              </a:lnSpc>
              <a:spcBef>
                <a:spcPts val="1001"/>
              </a:spcBef>
            </a:pPr>
            <a:endParaRPr lang="en-US" sz="2400" b="0" strike="noStrike" spc="-1">
              <a:latin typeface="Arial"/>
            </a:endParaRPr>
          </a:p>
          <a:p>
            <a:pPr algn="ctr">
              <a:lnSpc>
                <a:spcPct val="90000"/>
              </a:lnSpc>
              <a:spcBef>
                <a:spcPts val="1001"/>
              </a:spcBef>
            </a:pPr>
            <a:endParaRPr lang="en-US" sz="2400" b="0" strike="noStrike" spc="-1">
              <a:latin typeface="Arial"/>
            </a:endParaRPr>
          </a:p>
        </p:txBody>
      </p:sp>
      <p:pic>
        <p:nvPicPr>
          <p:cNvPr id="132" name="Imagen 3"/>
          <p:cNvPicPr/>
          <p:nvPr/>
        </p:nvPicPr>
        <p:blipFill>
          <a:blip r:embed="rId2"/>
          <a:srcRect b="79810"/>
          <a:stretch/>
        </p:blipFill>
        <p:spPr>
          <a:xfrm>
            <a:off x="1348560" y="4055040"/>
            <a:ext cx="6446520" cy="749160"/>
          </a:xfrm>
          <a:prstGeom prst="rect">
            <a:avLst/>
          </a:prstGeom>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CustomShape 1"/>
          <p:cNvSpPr/>
          <p:nvPr/>
        </p:nvSpPr>
        <p:spPr>
          <a:xfrm>
            <a:off x="0" y="0"/>
            <a:ext cx="9143280" cy="13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57040" indent="-256320">
              <a:lnSpc>
                <a:spcPct val="100000"/>
              </a:lnSpc>
              <a:buClr>
                <a:srgbClr val="000000"/>
              </a:buClr>
              <a:buFont typeface="StarSymbol"/>
              <a:buAutoNum type="arabicPeriod"/>
            </a:pPr>
            <a:r>
              <a:rPr lang="en-US" sz="1350" b="0" strike="noStrike" spc="-1" dirty="0">
                <a:solidFill>
                  <a:srgbClr val="000000"/>
                </a:solidFill>
                <a:latin typeface="Arial"/>
                <a:ea typeface="DejaVu Sans"/>
              </a:rPr>
              <a:t>Create a table that contains your current timetable</a:t>
            </a:r>
            <a:r>
              <a:rPr lang="en-US" sz="1350" b="0" strike="noStrike" spc="-1" dirty="0">
                <a:solidFill>
                  <a:srgbClr val="000000"/>
                </a:solidFill>
                <a:latin typeface="Calibri"/>
                <a:ea typeface="DejaVu Sans"/>
              </a:rPr>
              <a:t>.</a:t>
            </a:r>
            <a:endParaRPr lang="en-US" sz="1350" b="0" strike="noStrike" spc="-1" dirty="0">
              <a:latin typeface="Arial"/>
            </a:endParaRPr>
          </a:p>
          <a:p>
            <a:pPr marL="600120" lvl="1" indent="-256320">
              <a:lnSpc>
                <a:spcPct val="100000"/>
              </a:lnSpc>
              <a:buClr>
                <a:srgbClr val="000000"/>
              </a:buClr>
              <a:buFont typeface="Calibri Light"/>
              <a:buAutoNum type="alphaLcParenR"/>
            </a:pPr>
            <a:r>
              <a:rPr lang="en-US" sz="1350" b="0" strike="noStrike" spc="-1" dirty="0">
                <a:solidFill>
                  <a:srgbClr val="000000"/>
                </a:solidFill>
                <a:latin typeface="Arial"/>
                <a:ea typeface="DejaVu Sans"/>
              </a:rPr>
              <a:t>The table should have a frame. Since you don't know CSS yet, please ignore the hint when validating.</a:t>
            </a:r>
            <a:endParaRPr lang="en-US" sz="1350" b="0" strike="noStrike" spc="-1" dirty="0">
              <a:latin typeface="Arial"/>
            </a:endParaRPr>
          </a:p>
          <a:p>
            <a:pPr marL="600120" lvl="1" indent="-256320">
              <a:lnSpc>
                <a:spcPct val="100000"/>
              </a:lnSpc>
              <a:buClr>
                <a:srgbClr val="000000"/>
              </a:buClr>
              <a:buFont typeface="Calibri Light"/>
              <a:buAutoNum type="alphaLcParenR"/>
            </a:pPr>
            <a:r>
              <a:rPr lang="en-US" sz="1350" b="0" strike="noStrike" spc="-1" dirty="0">
                <a:solidFill>
                  <a:srgbClr val="000000"/>
                </a:solidFill>
                <a:latin typeface="Arial"/>
                <a:ea typeface="DejaVu Sans"/>
              </a:rPr>
              <a:t>The first row should contain the days of the week and the first column from the left should contain the times in lesson intervals (including 11:45-12:30, 12:30-13:15). These fields are to be marked as headings. </a:t>
            </a:r>
            <a:endParaRPr lang="en-US" sz="1350" b="0" strike="noStrike" spc="-1" dirty="0">
              <a:latin typeface="Arial"/>
            </a:endParaRPr>
          </a:p>
          <a:p>
            <a:pPr marL="600120" lvl="1" indent="-256320">
              <a:lnSpc>
                <a:spcPct val="100000"/>
              </a:lnSpc>
              <a:buClr>
                <a:srgbClr val="000000"/>
              </a:buClr>
              <a:buFont typeface="Calibri Light"/>
              <a:buAutoNum type="alphaLcParenR"/>
            </a:pPr>
            <a:r>
              <a:rPr lang="en-US" sz="1350" b="0" strike="noStrike" spc="-1" dirty="0">
                <a:solidFill>
                  <a:srgbClr val="000000"/>
                </a:solidFill>
                <a:latin typeface="Arial"/>
                <a:ea typeface="DejaVu Sans"/>
              </a:rPr>
              <a:t>Your lectures are to be entered in relation to the appropriate hours. Cells for lectures that go for two or more hours are to be connected. </a:t>
            </a:r>
            <a:endParaRPr lang="en-US" sz="1350" b="0" strike="noStrike" spc="-1" dirty="0">
              <a:latin typeface="Arial"/>
            </a:endParaRPr>
          </a:p>
        </p:txBody>
      </p:sp>
      <p:sp>
        <p:nvSpPr>
          <p:cNvPr id="134" name="CustomShape 2"/>
          <p:cNvSpPr/>
          <p:nvPr/>
        </p:nvSpPr>
        <p:spPr>
          <a:xfrm>
            <a:off x="109800" y="6581160"/>
            <a:ext cx="8899560" cy="272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200" b="0" strike="noStrike" spc="-1">
                <a:solidFill>
                  <a:srgbClr val="000000"/>
                </a:solidFill>
                <a:latin typeface="Calibri"/>
                <a:ea typeface="DejaVu Sans"/>
              </a:rPr>
              <a:t>http://apps.ebrothers.net/____frontend/open_task_eb005_wba/2020ss/01_html/practical_course_3-1/</a:t>
            </a:r>
            <a:endParaRPr lang="en-US" sz="1200" b="0" strike="noStrike" spc="-1">
              <a:latin typeface="Arial"/>
            </a:endParaRPr>
          </a:p>
        </p:txBody>
      </p:sp>
      <p:pic>
        <p:nvPicPr>
          <p:cNvPr id="136" name="Imagen 4"/>
          <p:cNvPicPr/>
          <p:nvPr/>
        </p:nvPicPr>
        <p:blipFill>
          <a:blip r:embed="rId2"/>
          <a:srcRect t="24125" b="10536"/>
          <a:stretch/>
        </p:blipFill>
        <p:spPr>
          <a:xfrm>
            <a:off x="0" y="1338840"/>
            <a:ext cx="6446520" cy="2425320"/>
          </a:xfrm>
          <a:prstGeom prst="rect">
            <a:avLst/>
          </a:prstGeom>
          <a:ln>
            <a:noFill/>
          </a:ln>
        </p:spPr>
      </p:pic>
      <p:pic>
        <p:nvPicPr>
          <p:cNvPr id="2" name="Imagen 1"/>
          <p:cNvPicPr>
            <a:picLocks noChangeAspect="1"/>
          </p:cNvPicPr>
          <p:nvPr/>
        </p:nvPicPr>
        <p:blipFill>
          <a:blip r:embed="rId3"/>
          <a:stretch>
            <a:fillRect/>
          </a:stretch>
        </p:blipFill>
        <p:spPr>
          <a:xfrm>
            <a:off x="187355" y="4210344"/>
            <a:ext cx="8888065" cy="190526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274320" y="274320"/>
            <a:ext cx="7040880" cy="1114200"/>
          </a:xfrm>
          <a:prstGeom prst="rect">
            <a:avLst/>
          </a:prstGeom>
          <a:noFill/>
          <a:ln>
            <a:noFill/>
          </a:ln>
        </p:spPr>
        <p:txBody>
          <a:bodyPr lIns="90000" tIns="45000" rIns="90000" bIns="45000">
            <a:spAutoFit/>
          </a:bodyPr>
          <a:lstStyle/>
          <a:p>
            <a:r>
              <a:rPr lang="en-US" sz="1800" b="0" strike="noStrike" spc="-1">
                <a:latin typeface="Arial"/>
              </a:rPr>
              <a:t>eb001: Please create documentation for bold or &lt;B&gt; and explain that in the platform</a:t>
            </a:r>
          </a:p>
          <a:p>
            <a:endParaRPr lang="en-US" sz="1800" b="0" strike="noStrike" spc="-1">
              <a:latin typeface="Arial"/>
            </a:endParaRPr>
          </a:p>
          <a:p>
            <a:r>
              <a:rPr lang="en-US" sz="1800" b="0" strike="noStrike" spc="-1">
                <a:latin typeface="Arial"/>
              </a:rPr>
              <a:t>Please update code as well of practical course 3-1</a:t>
            </a:r>
          </a:p>
        </p:txBody>
      </p:sp>
      <p:pic>
        <p:nvPicPr>
          <p:cNvPr id="140" name="Imagen 139"/>
          <p:cNvPicPr/>
          <p:nvPr/>
        </p:nvPicPr>
        <p:blipFill>
          <a:blip r:embed="rId2"/>
          <a:stretch/>
        </p:blipFill>
        <p:spPr>
          <a:xfrm>
            <a:off x="686520" y="1623600"/>
            <a:ext cx="4708440" cy="2931840"/>
          </a:xfrm>
          <a:prstGeom prst="rect">
            <a:avLst/>
          </a:prstGeom>
          <a:ln>
            <a:noFill/>
          </a:ln>
        </p:spPr>
      </p:pic>
      <p:sp>
        <p:nvSpPr>
          <p:cNvPr id="141" name="TextShape 2"/>
          <p:cNvSpPr txBox="1"/>
          <p:nvPr/>
        </p:nvSpPr>
        <p:spPr>
          <a:xfrm>
            <a:off x="1463040" y="4754880"/>
            <a:ext cx="2194560" cy="346320"/>
          </a:xfrm>
          <a:prstGeom prst="rect">
            <a:avLst/>
          </a:prstGeom>
          <a:noFill/>
          <a:ln>
            <a:noFill/>
          </a:ln>
        </p:spPr>
        <p:txBody>
          <a:bodyPr lIns="90000" tIns="45000" rIns="90000" bIns="45000">
            <a:spAutoFit/>
          </a:bodyPr>
          <a:lstStyle/>
          <a:p>
            <a:r>
              <a:rPr lang="en-US" sz="1800" b="0" strike="noStrike" spc="-1">
                <a:latin typeface="Arial"/>
              </a:rPr>
              <a: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CustomShape 1"/>
          <p:cNvSpPr/>
          <p:nvPr/>
        </p:nvSpPr>
        <p:spPr>
          <a:xfrm>
            <a:off x="0" y="0"/>
            <a:ext cx="9143280" cy="2145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57040" indent="-256320">
              <a:lnSpc>
                <a:spcPct val="100000"/>
              </a:lnSpc>
              <a:buClr>
                <a:srgbClr val="000000"/>
              </a:buClr>
              <a:buFont typeface="StarSymbol"/>
              <a:buAutoNum type="arabicPeriod" startAt="2"/>
            </a:pPr>
            <a:r>
              <a:rPr lang="en-US" sz="1350" b="0" strike="noStrike" spc="-1">
                <a:solidFill>
                  <a:srgbClr val="000000"/>
                </a:solidFill>
                <a:latin typeface="Arial"/>
                <a:ea typeface="DejaVu Sans"/>
              </a:rPr>
              <a:t>Create a form in a div. Specify form.php as the recipient script.</a:t>
            </a:r>
            <a:endParaRPr lang="en-US" sz="1350" b="0" strike="noStrike" spc="-1">
              <a:latin typeface="Arial"/>
            </a:endParaRPr>
          </a:p>
          <a:p>
            <a:pPr marL="257040" indent="-256320">
              <a:lnSpc>
                <a:spcPct val="100000"/>
              </a:lnSpc>
              <a:buClr>
                <a:srgbClr val="000000"/>
              </a:buClr>
              <a:buFont typeface="Calibri Light"/>
              <a:buAutoNum type="alphaLcParenR"/>
            </a:pPr>
            <a:r>
              <a:rPr lang="en-US" sz="1350" b="0" strike="noStrike" spc="-1">
                <a:solidFill>
                  <a:srgbClr val="000000"/>
                </a:solidFill>
                <a:latin typeface="Arial"/>
                <a:ea typeface="DejaVu Sans"/>
              </a:rPr>
              <a:t>Program two radio buttons for Mrs/Mr. Make sure that it should also be possible to click on Mr. or Ms. to select the buttons. </a:t>
            </a:r>
            <a:endParaRPr lang="en-US" sz="1350" b="0" strike="noStrike" spc="-1">
              <a:latin typeface="Arial"/>
            </a:endParaRPr>
          </a:p>
          <a:p>
            <a:pPr marL="257040" indent="-256320">
              <a:lnSpc>
                <a:spcPct val="100000"/>
              </a:lnSpc>
              <a:buClr>
                <a:srgbClr val="000000"/>
              </a:buClr>
              <a:buFont typeface="Calibri Light"/>
              <a:buAutoNum type="alphaLcParenR"/>
            </a:pPr>
            <a:r>
              <a:rPr lang="en-US" sz="1350" b="0" strike="noStrike" spc="-1">
                <a:solidFill>
                  <a:srgbClr val="000000"/>
                </a:solidFill>
                <a:latin typeface="Arial"/>
                <a:ea typeface="DejaVu Sans"/>
              </a:rPr>
              <a:t>Create six input fields for first name, last name, street, house number, postal code and city. First name and last name should be mandatory fields. Zip code should be able to contain only digits. </a:t>
            </a:r>
            <a:endParaRPr lang="en-US" sz="1350" b="0" strike="noStrike" spc="-1">
              <a:latin typeface="Arial"/>
            </a:endParaRPr>
          </a:p>
          <a:p>
            <a:pPr marL="257040" indent="-256320">
              <a:lnSpc>
                <a:spcPct val="100000"/>
              </a:lnSpc>
              <a:buClr>
                <a:srgbClr val="000000"/>
              </a:buClr>
              <a:buFont typeface="Calibri Light"/>
              <a:buAutoNum type="alphaLcParenR"/>
            </a:pPr>
            <a:r>
              <a:rPr lang="en-US" sz="1350" b="0" strike="noStrike" spc="-1">
                <a:solidFill>
                  <a:srgbClr val="000000"/>
                </a:solidFill>
                <a:latin typeface="Arial"/>
                <a:ea typeface="DejaVu Sans"/>
              </a:rPr>
              <a:t>Add a submit button. </a:t>
            </a:r>
            <a:endParaRPr lang="en-US" sz="1350" b="0" strike="noStrike" spc="-1">
              <a:latin typeface="Arial"/>
            </a:endParaRPr>
          </a:p>
          <a:p>
            <a:pPr marL="257040" indent="-256320">
              <a:lnSpc>
                <a:spcPct val="100000"/>
              </a:lnSpc>
              <a:buClr>
                <a:srgbClr val="000000"/>
              </a:buClr>
              <a:buFont typeface="Calibri Light"/>
              <a:buAutoNum type="alphaLcParenR"/>
            </a:pPr>
            <a:r>
              <a:rPr lang="en-US" sz="1350" b="0" strike="noStrike" spc="-1">
                <a:solidFill>
                  <a:srgbClr val="000000"/>
                </a:solidFill>
                <a:latin typeface="Arial"/>
                <a:ea typeface="DejaVu Sans"/>
              </a:rPr>
              <a:t>Also add a text field to the form for entering a multiline text, which should be 40 characters wide and 20 characters high. </a:t>
            </a:r>
            <a:endParaRPr lang="en-US" sz="1350" b="0" strike="noStrike" spc="-1">
              <a:latin typeface="Arial"/>
            </a:endParaRPr>
          </a:p>
          <a:p>
            <a:pPr marL="257040" indent="-256320">
              <a:lnSpc>
                <a:spcPct val="100000"/>
              </a:lnSpc>
              <a:buClr>
                <a:srgbClr val="000000"/>
              </a:buClr>
              <a:buFont typeface="Calibri Light"/>
              <a:buAutoNum type="alphaLcParenR"/>
            </a:pPr>
            <a:r>
              <a:rPr lang="en-US" sz="1350" b="0" strike="noStrike" spc="-1">
                <a:solidFill>
                  <a:srgbClr val="000000"/>
                </a:solidFill>
                <a:latin typeface="Arial"/>
                <a:ea typeface="DejaVu Sans"/>
              </a:rPr>
              <a:t>Group the elements logically with the fieldset element. Use appropriate headings.</a:t>
            </a:r>
            <a:endParaRPr lang="en-US" sz="1350" b="0" strike="noStrike" spc="-1">
              <a:latin typeface="Arial"/>
            </a:endParaRPr>
          </a:p>
          <a:p>
            <a:pPr marL="257040" indent="-256320">
              <a:lnSpc>
                <a:spcPct val="100000"/>
              </a:lnSpc>
              <a:buClr>
                <a:srgbClr val="000000"/>
              </a:buClr>
              <a:buFont typeface="Calibri Light"/>
              <a:buAutoNum type="alphaLcParenR"/>
            </a:pPr>
            <a:r>
              <a:rPr lang="en-US" sz="1350" b="0" strike="noStrike" spc="-1">
                <a:solidFill>
                  <a:srgbClr val="000000"/>
                </a:solidFill>
                <a:latin typeface="Arial"/>
                <a:ea typeface="DejaVu Sans"/>
              </a:rPr>
              <a:t>Which shipping metrhod makes more sense for this form? Give reasons why!</a:t>
            </a:r>
            <a:endParaRPr lang="en-US" sz="1350" b="0" strike="noStrike" spc="-1">
              <a:latin typeface="Arial"/>
            </a:endParaRPr>
          </a:p>
        </p:txBody>
      </p:sp>
      <p:pic>
        <p:nvPicPr>
          <p:cNvPr id="143" name="Imagen 3"/>
          <p:cNvPicPr/>
          <p:nvPr/>
        </p:nvPicPr>
        <p:blipFill>
          <a:blip r:embed="rId2"/>
          <a:srcRect b="30286"/>
          <a:stretch/>
        </p:blipFill>
        <p:spPr>
          <a:xfrm>
            <a:off x="0" y="2631960"/>
            <a:ext cx="4888440" cy="3439080"/>
          </a:xfrm>
          <a:prstGeom prst="rect">
            <a:avLst/>
          </a:prstGeom>
          <a:ln>
            <a:noFill/>
          </a:ln>
        </p:spPr>
      </p:pic>
      <p:sp>
        <p:nvSpPr>
          <p:cNvPr id="144" name="CustomShape 2"/>
          <p:cNvSpPr/>
          <p:nvPr/>
        </p:nvSpPr>
        <p:spPr>
          <a:xfrm>
            <a:off x="4889160" y="4084200"/>
            <a:ext cx="4290840" cy="1278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300" b="0" strike="noStrike" spc="-1">
                <a:solidFill>
                  <a:srgbClr val="000000"/>
                </a:solidFill>
                <a:latin typeface="Arial"/>
                <a:ea typeface="DejaVu Sans"/>
              </a:rPr>
              <a:t>Note: On moodle you can find the PHP script from.php. If you want to use this, you need a web server that can interpret PHP. On Linux you can install the modules apache2 and libapache2-mod-php. Under Windows there is XAMPP. If you prefer to use a server provided by the university, talk to your tuto. </a:t>
            </a:r>
            <a:endParaRPr lang="en-US" sz="1300" b="0" strike="noStrike" spc="-1">
              <a:latin typeface="Arial"/>
            </a:endParaRPr>
          </a:p>
        </p:txBody>
      </p:sp>
      <p:pic>
        <p:nvPicPr>
          <p:cNvPr id="145" name="Imagen 5"/>
          <p:cNvPicPr/>
          <p:nvPr/>
        </p:nvPicPr>
        <p:blipFill>
          <a:blip r:embed="rId2"/>
          <a:srcRect l="5144" t="77453" r="2717"/>
          <a:stretch/>
        </p:blipFill>
        <p:spPr>
          <a:xfrm>
            <a:off x="4889160" y="2752920"/>
            <a:ext cx="4132440" cy="1042920"/>
          </a:xfrm>
          <a:prstGeom prst="rect">
            <a:avLst/>
          </a:prstGeom>
          <a:ln>
            <a:noFill/>
          </a:ln>
        </p:spPr>
      </p:pic>
      <p:sp>
        <p:nvSpPr>
          <p:cNvPr id="146" name="TextShape 3"/>
          <p:cNvSpPr txBox="1"/>
          <p:nvPr/>
        </p:nvSpPr>
        <p:spPr>
          <a:xfrm>
            <a:off x="5212080" y="5760720"/>
            <a:ext cx="3474720" cy="346320"/>
          </a:xfrm>
          <a:prstGeom prst="rect">
            <a:avLst/>
          </a:prstGeom>
          <a:noFill/>
          <a:ln>
            <a:noFill/>
          </a:ln>
        </p:spPr>
        <p:txBody>
          <a:bodyPr lIns="90000" tIns="45000" rIns="90000" bIns="45000">
            <a:spAutoFit/>
          </a:bodyPr>
          <a:lstStyle/>
          <a:p>
            <a:r>
              <a:rPr lang="en-US" sz="1800" b="0" strike="noStrike" spc="-1">
                <a:latin typeface="Arial"/>
              </a:rPr>
              <a:t>eb001 continues with this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Imagen 1"/>
          <p:cNvPicPr/>
          <p:nvPr/>
        </p:nvPicPr>
        <p:blipFill>
          <a:blip r:embed="rId2"/>
          <a:stretch/>
        </p:blipFill>
        <p:spPr>
          <a:xfrm>
            <a:off x="874800" y="101520"/>
            <a:ext cx="7491600" cy="3315600"/>
          </a:xfrm>
          <a:prstGeom prst="rect">
            <a:avLst/>
          </a:prstGeom>
          <a:ln>
            <a:noFill/>
          </a:ln>
        </p:spPr>
      </p:pic>
      <p:pic>
        <p:nvPicPr>
          <p:cNvPr id="148" name="Imagen 2"/>
          <p:cNvPicPr/>
          <p:nvPr/>
        </p:nvPicPr>
        <p:blipFill>
          <a:blip r:embed="rId3"/>
          <a:stretch/>
        </p:blipFill>
        <p:spPr>
          <a:xfrm>
            <a:off x="913680" y="3417840"/>
            <a:ext cx="3206520" cy="2591280"/>
          </a:xfrm>
          <a:prstGeom prst="rect">
            <a:avLst/>
          </a:prstGeom>
          <a:ln>
            <a:noFill/>
          </a:ln>
        </p:spPr>
      </p:pic>
      <p:sp>
        <p:nvSpPr>
          <p:cNvPr id="149" name="CustomShape 1"/>
          <p:cNvSpPr/>
          <p:nvPr/>
        </p:nvSpPr>
        <p:spPr>
          <a:xfrm>
            <a:off x="195120" y="6581160"/>
            <a:ext cx="7850880" cy="272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200" b="0" strike="noStrike" spc="-1">
                <a:solidFill>
                  <a:srgbClr val="000000"/>
                </a:solidFill>
                <a:latin typeface="Calibri"/>
                <a:ea typeface="DejaVu Sans"/>
              </a:rPr>
              <a:t>http://apps.ebrothers.net/____frontend/open_task_eb005_wba/2020ss/01_html/practical_course_3-2/</a:t>
            </a:r>
            <a:endParaRPr lang="en-US" sz="1200" b="0" strike="noStrike" spc="-1">
              <a:latin typeface="Arial"/>
            </a:endParaRPr>
          </a:p>
        </p:txBody>
      </p:sp>
      <p:sp>
        <p:nvSpPr>
          <p:cNvPr id="150" name="CustomShape 2"/>
          <p:cNvSpPr/>
          <p:nvPr/>
        </p:nvSpPr>
        <p:spPr>
          <a:xfrm>
            <a:off x="5041440" y="3790440"/>
            <a:ext cx="3236400" cy="1528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350" b="1" strike="noStrike" spc="-1">
                <a:solidFill>
                  <a:srgbClr val="000000"/>
                </a:solidFill>
                <a:latin typeface="Arial"/>
                <a:ea typeface="DejaVu Sans"/>
              </a:rPr>
              <a:t>Reply:</a:t>
            </a:r>
            <a:endParaRPr lang="en-US" sz="1350" b="0" strike="noStrike" spc="-1">
              <a:latin typeface="Arial"/>
            </a:endParaRPr>
          </a:p>
          <a:p>
            <a:pPr>
              <a:lnSpc>
                <a:spcPct val="100000"/>
              </a:lnSpc>
            </a:pPr>
            <a:r>
              <a:rPr lang="en-US" sz="1350" b="0" strike="noStrike" spc="-1">
                <a:solidFill>
                  <a:srgbClr val="000000"/>
                </a:solidFill>
                <a:latin typeface="Arial"/>
                <a:ea typeface="DejaVu Sans"/>
              </a:rPr>
              <a:t>The submit method makes more sense for this form is the input element, having the value "submit" in its type attribute because the default text of the button will be Submit (or equivalent depending on the language).</a:t>
            </a:r>
            <a:endParaRPr lang="en-US" sz="1350" b="0" strike="noStrike" spc="-1">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CustomShape 1"/>
          <p:cNvSpPr/>
          <p:nvPr/>
        </p:nvSpPr>
        <p:spPr>
          <a:xfrm>
            <a:off x="0" y="0"/>
            <a:ext cx="8893440" cy="1528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350" b="0" strike="noStrike" spc="-1">
                <a:solidFill>
                  <a:srgbClr val="000000"/>
                </a:solidFill>
                <a:latin typeface="Arial"/>
                <a:ea typeface="DejaVu Sans"/>
              </a:rPr>
              <a:t>3.  In at least three different browsers, test the HTML5 input elements email, number, range, color, date, time, and datetime. Indicate in which browsers (including version) the input elements work or do not work.</a:t>
            </a:r>
            <a:endParaRPr lang="en-US" sz="1350" b="0" strike="noStrike" spc="-1">
              <a:latin typeface="Arial"/>
            </a:endParaRPr>
          </a:p>
          <a:p>
            <a:pPr>
              <a:lnSpc>
                <a:spcPct val="100000"/>
              </a:lnSpc>
            </a:pPr>
            <a:r>
              <a:rPr lang="en-US" sz="1350" b="0" strike="noStrike" spc="-1">
                <a:solidFill>
                  <a:srgbClr val="000000"/>
                </a:solidFill>
                <a:latin typeface="Arial"/>
                <a:ea typeface="DejaVu Sans"/>
              </a:rPr>
              <a:t>For date, time and datetime, please also describe the formats passed (to be seen in the URI for method get).</a:t>
            </a:r>
            <a:endParaRPr lang="en-US" sz="1350" b="0" strike="noStrike" spc="-1">
              <a:latin typeface="Arial"/>
            </a:endParaRPr>
          </a:p>
          <a:p>
            <a:pPr>
              <a:lnSpc>
                <a:spcPct val="100000"/>
              </a:lnSpc>
            </a:pPr>
            <a:r>
              <a:rPr lang="en-US" sz="1350" b="0" strike="noStrike" spc="-1">
                <a:solidFill>
                  <a:srgbClr val="000000"/>
                </a:solidFill>
                <a:latin typeface="Arial"/>
                <a:ea typeface="DejaVu Sans"/>
              </a:rPr>
              <a:t>The tasks of this exercise are to be handed in. Please make sure that you make sensible indentations and comments for better readability. The solutions are to be submitted in electronic form at https://wba.cs.hs-rm.de/PraGA/. Please note the submission date given there. </a:t>
            </a:r>
            <a:endParaRPr lang="en-US" sz="1350" b="0" strike="noStrike" spc="-1">
              <a:latin typeface="Arial"/>
            </a:endParaRPr>
          </a:p>
          <a:p>
            <a:pPr>
              <a:lnSpc>
                <a:spcPct val="100000"/>
              </a:lnSpc>
            </a:pPr>
            <a:endParaRPr lang="en-US" sz="1350" b="0" strike="noStrike" spc="-1">
              <a:latin typeface="Arial"/>
            </a:endParaRPr>
          </a:p>
        </p:txBody>
      </p:sp>
      <p:pic>
        <p:nvPicPr>
          <p:cNvPr id="152" name="Imagen 2"/>
          <p:cNvPicPr/>
          <p:nvPr/>
        </p:nvPicPr>
        <p:blipFill>
          <a:blip r:embed="rId2"/>
          <a:stretch/>
        </p:blipFill>
        <p:spPr>
          <a:xfrm>
            <a:off x="254880" y="4717080"/>
            <a:ext cx="2380680" cy="1637640"/>
          </a:xfrm>
          <a:prstGeom prst="rect">
            <a:avLst/>
          </a:prstGeom>
          <a:ln>
            <a:noFill/>
          </a:ln>
        </p:spPr>
      </p:pic>
      <p:sp>
        <p:nvSpPr>
          <p:cNvPr id="153" name="CustomShape 2"/>
          <p:cNvSpPr/>
          <p:nvPr/>
        </p:nvSpPr>
        <p:spPr>
          <a:xfrm>
            <a:off x="91440" y="6557760"/>
            <a:ext cx="8649360" cy="295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350" b="0" strike="noStrike" spc="-1">
                <a:solidFill>
                  <a:srgbClr val="000000"/>
                </a:solidFill>
                <a:latin typeface="Arial"/>
                <a:ea typeface="DejaVu Sans"/>
              </a:rPr>
              <a:t>http://apps.ebrothers.net/____frontend/open_task_eb005_wba/2020ss/01_html/practical_course_3-3/</a:t>
            </a:r>
            <a:endParaRPr lang="en-US" sz="1350" b="0" strike="noStrike" spc="-1">
              <a:latin typeface="Arial"/>
            </a:endParaRPr>
          </a:p>
        </p:txBody>
      </p:sp>
      <p:sp>
        <p:nvSpPr>
          <p:cNvPr id="154" name="CustomShape 3"/>
          <p:cNvSpPr/>
          <p:nvPr/>
        </p:nvSpPr>
        <p:spPr>
          <a:xfrm>
            <a:off x="339840" y="3978360"/>
            <a:ext cx="1926000" cy="729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0" strike="noStrike" spc="-1">
                <a:solidFill>
                  <a:srgbClr val="000000"/>
                </a:solidFill>
                <a:latin typeface="Arial"/>
                <a:ea typeface="DejaVu Sans"/>
              </a:rPr>
              <a:t>Google Chrome</a:t>
            </a:r>
            <a:endParaRPr lang="en-US" sz="1800" b="0" strike="noStrike" spc="-1">
              <a:latin typeface="Arial"/>
            </a:endParaRPr>
          </a:p>
          <a:p>
            <a:pPr>
              <a:lnSpc>
                <a:spcPct val="100000"/>
              </a:lnSpc>
            </a:pPr>
            <a:r>
              <a:rPr lang="en-US" sz="1200" b="0" strike="noStrike" spc="-1">
                <a:solidFill>
                  <a:srgbClr val="000000"/>
                </a:solidFill>
                <a:latin typeface="Calibri"/>
                <a:ea typeface="DejaVu Sans"/>
              </a:rPr>
              <a:t>Versión 95.0.4638.69</a:t>
            </a:r>
            <a:endParaRPr lang="en-US" sz="1200" b="0" strike="noStrike" spc="-1">
              <a:latin typeface="Arial"/>
            </a:endParaRPr>
          </a:p>
          <a:p>
            <a:pPr>
              <a:lnSpc>
                <a:spcPct val="100000"/>
              </a:lnSpc>
            </a:pPr>
            <a:r>
              <a:rPr lang="en-US" sz="1200" b="0" strike="noStrike" spc="-1">
                <a:solidFill>
                  <a:srgbClr val="000000"/>
                </a:solidFill>
                <a:latin typeface="Calibri"/>
                <a:ea typeface="DejaVu Sans"/>
              </a:rPr>
              <a:t>(Build oficial) (64 bits)</a:t>
            </a:r>
            <a:endParaRPr lang="en-US" sz="1200" b="0" strike="noStrike" spc="-1">
              <a:latin typeface="Arial"/>
            </a:endParaRPr>
          </a:p>
        </p:txBody>
      </p:sp>
      <p:sp>
        <p:nvSpPr>
          <p:cNvPr id="155" name="CustomShape 4"/>
          <p:cNvSpPr/>
          <p:nvPr/>
        </p:nvSpPr>
        <p:spPr>
          <a:xfrm>
            <a:off x="3471120" y="3978360"/>
            <a:ext cx="1651320" cy="7293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DejaVu Sans"/>
              </a:rPr>
              <a:t>Mozilla Firefox</a:t>
            </a:r>
            <a:endParaRPr lang="en-US" sz="1800" b="0" strike="noStrike" spc="-1">
              <a:latin typeface="Arial"/>
            </a:endParaRPr>
          </a:p>
          <a:p>
            <a:pPr>
              <a:lnSpc>
                <a:spcPct val="100000"/>
              </a:lnSpc>
            </a:pPr>
            <a:r>
              <a:rPr lang="en-US" sz="1200" b="0" strike="noStrike" spc="-1">
                <a:solidFill>
                  <a:srgbClr val="000000"/>
                </a:solidFill>
                <a:latin typeface="Arial"/>
                <a:ea typeface="DejaVu Sans"/>
              </a:rPr>
              <a:t>Version 94</a:t>
            </a:r>
            <a:endParaRPr lang="en-US" sz="1200" b="0" strike="noStrike" spc="-1">
              <a:latin typeface="Arial"/>
            </a:endParaRPr>
          </a:p>
          <a:p>
            <a:pPr>
              <a:lnSpc>
                <a:spcPct val="100000"/>
              </a:lnSpc>
            </a:pPr>
            <a:r>
              <a:rPr lang="en-US" sz="1200" b="0" strike="noStrike" spc="-1">
                <a:solidFill>
                  <a:srgbClr val="000000"/>
                </a:solidFill>
                <a:latin typeface="Arial"/>
                <a:ea typeface="DejaVu Sans"/>
              </a:rPr>
              <a:t>Windows 10</a:t>
            </a:r>
            <a:endParaRPr lang="en-US" sz="1200" b="0" strike="noStrike" spc="-1">
              <a:latin typeface="Arial"/>
            </a:endParaRPr>
          </a:p>
        </p:txBody>
      </p:sp>
      <p:pic>
        <p:nvPicPr>
          <p:cNvPr id="156" name="Imagen 6"/>
          <p:cNvPicPr/>
          <p:nvPr/>
        </p:nvPicPr>
        <p:blipFill>
          <a:blip r:embed="rId3"/>
          <a:stretch/>
        </p:blipFill>
        <p:spPr>
          <a:xfrm>
            <a:off x="3183120" y="4717080"/>
            <a:ext cx="2142360" cy="1732680"/>
          </a:xfrm>
          <a:prstGeom prst="rect">
            <a:avLst/>
          </a:prstGeom>
          <a:ln>
            <a:noFill/>
          </a:ln>
        </p:spPr>
      </p:pic>
      <p:pic>
        <p:nvPicPr>
          <p:cNvPr id="157" name="Imagen 7"/>
          <p:cNvPicPr/>
          <p:nvPr/>
        </p:nvPicPr>
        <p:blipFill>
          <a:blip r:embed="rId4"/>
          <a:stretch/>
        </p:blipFill>
        <p:spPr>
          <a:xfrm>
            <a:off x="5655600" y="4636080"/>
            <a:ext cx="3237840" cy="1894680"/>
          </a:xfrm>
          <a:prstGeom prst="rect">
            <a:avLst/>
          </a:prstGeom>
          <a:ln>
            <a:noFill/>
          </a:ln>
        </p:spPr>
      </p:pic>
      <p:sp>
        <p:nvSpPr>
          <p:cNvPr id="158" name="CustomShape 5"/>
          <p:cNvSpPr/>
          <p:nvPr/>
        </p:nvSpPr>
        <p:spPr>
          <a:xfrm>
            <a:off x="5898240" y="3978360"/>
            <a:ext cx="2238120" cy="7293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800" b="0" strike="noStrike" spc="-1">
                <a:solidFill>
                  <a:srgbClr val="000000"/>
                </a:solidFill>
                <a:latin typeface="Arial"/>
                <a:ea typeface="DejaVu Sans"/>
              </a:rPr>
              <a:t>Internet Explorer</a:t>
            </a:r>
            <a:endParaRPr lang="en-US" sz="1800" b="0" strike="noStrike" spc="-1">
              <a:latin typeface="Arial"/>
            </a:endParaRPr>
          </a:p>
          <a:p>
            <a:pPr>
              <a:lnSpc>
                <a:spcPct val="100000"/>
              </a:lnSpc>
            </a:pPr>
            <a:r>
              <a:rPr lang="en-US" sz="1200" b="0" strike="noStrike" spc="-1">
                <a:solidFill>
                  <a:srgbClr val="000000"/>
                </a:solidFill>
                <a:latin typeface="Arial"/>
                <a:ea typeface="DejaVu Sans"/>
              </a:rPr>
              <a:t>Version 20H2</a:t>
            </a:r>
            <a:endParaRPr lang="en-US" sz="1200" b="0" strike="noStrike" spc="-1">
              <a:latin typeface="Arial"/>
            </a:endParaRPr>
          </a:p>
          <a:p>
            <a:pPr>
              <a:lnSpc>
                <a:spcPct val="100000"/>
              </a:lnSpc>
            </a:pPr>
            <a:r>
              <a:rPr lang="en-US" sz="1200" b="0" strike="noStrike" spc="-1">
                <a:solidFill>
                  <a:srgbClr val="000000"/>
                </a:solidFill>
                <a:latin typeface="Arial"/>
                <a:ea typeface="DejaVu Sans"/>
              </a:rPr>
              <a:t>(Compilacion SO 19042,1288)</a:t>
            </a:r>
            <a:endParaRPr lang="en-US" sz="1200" b="0" strike="noStrike" spc="-1">
              <a:latin typeface="Arial"/>
            </a:endParaRPr>
          </a:p>
        </p:txBody>
      </p:sp>
      <p:pic>
        <p:nvPicPr>
          <p:cNvPr id="159" name="Imagen 9"/>
          <p:cNvPicPr/>
          <p:nvPr/>
        </p:nvPicPr>
        <p:blipFill>
          <a:blip r:embed="rId5"/>
          <a:srcRect l="5194" t="3073" b="40453"/>
          <a:stretch/>
        </p:blipFill>
        <p:spPr>
          <a:xfrm>
            <a:off x="91440" y="1378800"/>
            <a:ext cx="5964480" cy="1514160"/>
          </a:xfrm>
          <a:prstGeom prst="rect">
            <a:avLst/>
          </a:prstGeom>
          <a:ln>
            <a:noFill/>
          </a:ln>
        </p:spPr>
      </p:pic>
      <p:pic>
        <p:nvPicPr>
          <p:cNvPr id="160" name="Imagen 10"/>
          <p:cNvPicPr/>
          <p:nvPr/>
        </p:nvPicPr>
        <p:blipFill>
          <a:blip r:embed="rId5"/>
          <a:srcRect l="2069" t="66851"/>
          <a:stretch/>
        </p:blipFill>
        <p:spPr>
          <a:xfrm>
            <a:off x="339840" y="2941920"/>
            <a:ext cx="6406200" cy="927000"/>
          </a:xfrm>
          <a:prstGeom prst="rect">
            <a:avLst/>
          </a:prstGeom>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1650</TotalTime>
  <Words>1386</Words>
  <Application>Microsoft Office PowerPoint</Application>
  <PresentationFormat>Presentación en pantalla (4:3)</PresentationFormat>
  <Paragraphs>88</Paragraphs>
  <Slides>19</Slides>
  <Notes>0</Notes>
  <HiddenSlides>0</HiddenSlides>
  <MMClips>0</MMClips>
  <ScaleCrop>false</ScaleCrop>
  <HeadingPairs>
    <vt:vector size="6" baseType="variant">
      <vt:variant>
        <vt:lpstr>Fuentes usadas</vt:lpstr>
      </vt:variant>
      <vt:variant>
        <vt:i4>7</vt:i4>
      </vt:variant>
      <vt:variant>
        <vt:lpstr>Tema</vt:lpstr>
      </vt:variant>
      <vt:variant>
        <vt:i4>2</vt:i4>
      </vt:variant>
      <vt:variant>
        <vt:lpstr>Títulos de diapositiva</vt:lpstr>
      </vt:variant>
      <vt:variant>
        <vt:i4>19</vt:i4>
      </vt:variant>
    </vt:vector>
  </HeadingPairs>
  <TitlesOfParts>
    <vt:vector size="28" baseType="lpstr">
      <vt:lpstr>Arial</vt:lpstr>
      <vt:lpstr>Calibri</vt:lpstr>
      <vt:lpstr>Calibri Light</vt:lpstr>
      <vt:lpstr>DejaVu Sans</vt:lpstr>
      <vt:lpstr>StarSymbol</vt:lpstr>
      <vt:lpstr>Symbol</vt:lpstr>
      <vt:lpstr>Wingdings</vt:lpstr>
      <vt:lpstr>Office Theme</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Web-based applications (SoSe2020)</dc:title>
  <dc:subject/>
  <dc:creator>lauda</dc:creator>
  <dc:description/>
  <cp:lastModifiedBy>lauda</cp:lastModifiedBy>
  <cp:revision>62</cp:revision>
  <dcterms:created xsi:type="dcterms:W3CDTF">2021-10-23T21:11:13Z</dcterms:created>
  <dcterms:modified xsi:type="dcterms:W3CDTF">2022-04-30T16:19:32Z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HP</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Presentación en pantalla (4:3)</vt:lpwstr>
  </property>
  <property fmtid="{D5CDD505-2E9C-101B-9397-08002B2CF9AE}" pid="10" name="ScaleCrop">
    <vt:bool>false</vt:bool>
  </property>
  <property fmtid="{D5CDD505-2E9C-101B-9397-08002B2CF9AE}" pid="11" name="ShareDoc">
    <vt:bool>false</vt:bool>
  </property>
  <property fmtid="{D5CDD505-2E9C-101B-9397-08002B2CF9AE}" pid="12" name="Slides">
    <vt:i4>18</vt:i4>
  </property>
</Properties>
</file>